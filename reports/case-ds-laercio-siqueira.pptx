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9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3" r:id="rId24"/>
    <p:sldId id="284" r:id="rId25"/>
    <p:sldId id="288" r:id="rId26"/>
    <p:sldId id="276" r:id="rId27"/>
    <p:sldId id="277" r:id="rId28"/>
    <p:sldId id="278" r:id="rId29"/>
    <p:sldId id="279" r:id="rId30"/>
    <p:sldId id="280" r:id="rId31"/>
    <p:sldId id="281" r:id="rId32"/>
    <p:sldId id="285" r:id="rId33"/>
    <p:sldId id="293" r:id="rId34"/>
    <p:sldId id="286" r:id="rId35"/>
    <p:sldId id="287" r:id="rId36"/>
    <p:sldId id="289" r:id="rId37"/>
    <p:sldId id="290" r:id="rId38"/>
    <p:sldId id="29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D23FD6-FB8D-41B3-AD97-C67BBDA6AB96}" v="34" dt="2026-09-03T01:57:57.123"/>
    <p1510:client id="{C42EDCB4-A2F3-42BC-83F6-BDC86F218E26}" v="1" dt="2026-09-03T02:36:36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76" autoAdjust="0"/>
  </p:normalViewPr>
  <p:slideViewPr>
    <p:cSldViewPr snapToGrid="0" snapToObjects="1">
      <p:cViewPr varScale="1">
        <p:scale>
          <a:sx n="64" d="100"/>
          <a:sy n="64" d="100"/>
        </p:scale>
        <p:origin x="139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Kushiyama" userId="c43850c8224f67c2" providerId="LiveId" clId="{A828A837-F245-4754-8297-A20DE5B90207}"/>
    <pc:docChg chg="undo custSel addSld delSld modSld sldOrd">
      <pc:chgData name="Camila Kushiyama" userId="c43850c8224f67c2" providerId="LiveId" clId="{A828A837-F245-4754-8297-A20DE5B90207}" dt="2026-09-03T03:07:28.842" v="1401" actId="20577"/>
      <pc:docMkLst>
        <pc:docMk/>
      </pc:docMkLst>
      <pc:sldChg chg="addSp modSp mod modNotesTx">
        <pc:chgData name="Camila Kushiyama" userId="c43850c8224f67c2" providerId="LiveId" clId="{A828A837-F245-4754-8297-A20DE5B90207}" dt="2026-09-03T02:13:52.461" v="1206" actId="20577"/>
        <pc:sldMkLst>
          <pc:docMk/>
          <pc:sldMk cId="0" sldId="256"/>
        </pc:sldMkLst>
        <pc:picChg chg="add mod">
          <ac:chgData name="Camila Kushiyama" userId="c43850c8224f67c2" providerId="LiveId" clId="{A828A837-F245-4754-8297-A20DE5B90207}" dt="2026-09-02T02:54:15.578" v="842" actId="1076"/>
          <ac:picMkLst>
            <pc:docMk/>
            <pc:sldMk cId="0" sldId="256"/>
            <ac:picMk id="9" creationId="{7B598DBC-20F4-3C10-EFE2-43A741261576}"/>
          </ac:picMkLst>
        </pc:picChg>
      </pc:sldChg>
      <pc:sldChg chg="modNotesTx">
        <pc:chgData name="Camila Kushiyama" userId="c43850c8224f67c2" providerId="LiveId" clId="{A828A837-F245-4754-8297-A20DE5B90207}" dt="2026-09-03T02:13:45.261" v="1205" actId="20577"/>
        <pc:sldMkLst>
          <pc:docMk/>
          <pc:sldMk cId="0" sldId="257"/>
        </pc:sldMkLst>
      </pc:sldChg>
      <pc:sldChg chg="addSp delSp mod modNotesTx">
        <pc:chgData name="Camila Kushiyama" userId="c43850c8224f67c2" providerId="LiveId" clId="{A828A837-F245-4754-8297-A20DE5B90207}" dt="2026-09-03T02:13:59.979" v="1207" actId="20577"/>
        <pc:sldMkLst>
          <pc:docMk/>
          <pc:sldMk cId="0" sldId="258"/>
        </pc:sldMkLst>
        <pc:picChg chg="add del">
          <ac:chgData name="Camila Kushiyama" userId="c43850c8224f67c2" providerId="LiveId" clId="{A828A837-F245-4754-8297-A20DE5B90207}" dt="2026-09-02T02:54:25.108" v="845" actId="478"/>
          <ac:picMkLst>
            <pc:docMk/>
            <pc:sldMk cId="0" sldId="258"/>
            <ac:picMk id="7" creationId="{3E5037E3-7F68-21BC-BFDC-A62537DE05E2}"/>
          </ac:picMkLst>
        </pc:picChg>
        <pc:picChg chg="add">
          <ac:chgData name="Camila Kushiyama" userId="c43850c8224f67c2" providerId="LiveId" clId="{A828A837-F245-4754-8297-A20DE5B90207}" dt="2026-09-02T02:54:29.101" v="846" actId="22"/>
          <ac:picMkLst>
            <pc:docMk/>
            <pc:sldMk cId="0" sldId="258"/>
            <ac:picMk id="9" creationId="{26D64A11-F233-8C50-5913-D53D4634AAE6}"/>
          </ac:picMkLst>
        </pc:picChg>
      </pc:sldChg>
      <pc:sldChg chg="addSp delSp modSp mod modNotesTx">
        <pc:chgData name="Camila Kushiyama" userId="c43850c8224f67c2" providerId="LiveId" clId="{A828A837-F245-4754-8297-A20DE5B90207}" dt="2026-09-03T03:07:28.842" v="1401" actId="20577"/>
        <pc:sldMkLst>
          <pc:docMk/>
          <pc:sldMk cId="0" sldId="259"/>
        </pc:sldMkLst>
        <pc:spChg chg="mod">
          <ac:chgData name="Camila Kushiyama" userId="c43850c8224f67c2" providerId="LiveId" clId="{A828A837-F245-4754-8297-A20DE5B90207}" dt="2026-09-03T03:07:28.842" v="1401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2T02:17:05.832" v="833" actId="1076"/>
          <ac:spMkLst>
            <pc:docMk/>
            <pc:sldMk cId="0" sldId="259"/>
            <ac:spMk id="20" creationId="{00000000-0000-0000-0000-000000000000}"/>
          </ac:spMkLst>
        </pc:spChg>
        <pc:picChg chg="del">
          <ac:chgData name="Camila Kushiyama" userId="c43850c8224f67c2" providerId="LiveId" clId="{A828A837-F245-4754-8297-A20DE5B90207}" dt="2026-09-02T02:16:33.468" v="824" actId="478"/>
          <ac:picMkLst>
            <pc:docMk/>
            <pc:sldMk cId="0" sldId="259"/>
            <ac:picMk id="19" creationId="{00000000-0000-0000-0000-000000000000}"/>
          </ac:picMkLst>
        </pc:picChg>
        <pc:picChg chg="add mod">
          <ac:chgData name="Camila Kushiyama" userId="c43850c8224f67c2" providerId="LiveId" clId="{A828A837-F245-4754-8297-A20DE5B90207}" dt="2026-09-02T02:17:07.578" v="834" actId="1076"/>
          <ac:picMkLst>
            <pc:docMk/>
            <pc:sldMk cId="0" sldId="259"/>
            <ac:picMk id="22" creationId="{55749E71-51AF-0948-6B2F-A7831041FCB6}"/>
          </ac:picMkLst>
        </pc:picChg>
      </pc:sldChg>
      <pc:sldChg chg="modSp mod modNotesTx">
        <pc:chgData name="Camila Kushiyama" userId="c43850c8224f67c2" providerId="LiveId" clId="{A828A837-F245-4754-8297-A20DE5B90207}" dt="2026-09-03T02:14:11.440" v="1209" actId="20577"/>
        <pc:sldMkLst>
          <pc:docMk/>
          <pc:sldMk cId="0" sldId="260"/>
        </pc:sldMkLst>
        <pc:spChg chg="mod">
          <ac:chgData name="Camila Kushiyama" userId="c43850c8224f67c2" providerId="LiveId" clId="{A828A837-F245-4754-8297-A20DE5B90207}" dt="2026-09-01T23:45:59.225" v="818" actId="1076"/>
          <ac:spMkLst>
            <pc:docMk/>
            <pc:sldMk cId="0" sldId="260"/>
            <ac:spMk id="8" creationId="{00000000-0000-0000-0000-000000000000}"/>
          </ac:spMkLst>
        </pc:spChg>
      </pc:sldChg>
      <pc:sldChg chg="addSp mod modNotesTx">
        <pc:chgData name="Camila Kushiyama" userId="c43850c8224f67c2" providerId="LiveId" clId="{A828A837-F245-4754-8297-A20DE5B90207}" dt="2026-09-03T02:14:25.387" v="1212" actId="20577"/>
        <pc:sldMkLst>
          <pc:docMk/>
          <pc:sldMk cId="0" sldId="261"/>
        </pc:sldMkLst>
        <pc:picChg chg="add">
          <ac:chgData name="Camila Kushiyama" userId="c43850c8224f67c2" providerId="LiveId" clId="{A828A837-F245-4754-8297-A20DE5B90207}" dt="2026-09-02T02:54:31.859" v="847" actId="22"/>
          <ac:picMkLst>
            <pc:docMk/>
            <pc:sldMk cId="0" sldId="261"/>
            <ac:picMk id="8" creationId="{5E6C6BBA-B78C-9637-EF68-1B4F53B900CC}"/>
          </ac:picMkLst>
        </pc:picChg>
      </pc:sldChg>
      <pc:sldChg chg="modNotesTx">
        <pc:chgData name="Camila Kushiyama" userId="c43850c8224f67c2" providerId="LiveId" clId="{A828A837-F245-4754-8297-A20DE5B90207}" dt="2026-09-03T02:14:31.280" v="1213" actId="20577"/>
        <pc:sldMkLst>
          <pc:docMk/>
          <pc:sldMk cId="0" sldId="262"/>
        </pc:sldMkLst>
      </pc:sldChg>
      <pc:sldChg chg="modSp mod modNotesTx">
        <pc:chgData name="Camila Kushiyama" userId="c43850c8224f67c2" providerId="LiveId" clId="{A828A837-F245-4754-8297-A20DE5B90207}" dt="2026-09-03T02:14:36.578" v="1214" actId="20577"/>
        <pc:sldMkLst>
          <pc:docMk/>
          <pc:sldMk cId="0" sldId="263"/>
        </pc:sldMkLst>
        <pc:spChg chg="mod">
          <ac:chgData name="Camila Kushiyama" userId="c43850c8224f67c2" providerId="LiveId" clId="{A828A837-F245-4754-8297-A20DE5B90207}" dt="2026-09-02T22:59:03.968" v="1075" actId="20577"/>
          <ac:spMkLst>
            <pc:docMk/>
            <pc:sldMk cId="0" sldId="263"/>
            <ac:spMk id="7" creationId="{00000000-0000-0000-0000-000000000000}"/>
          </ac:spMkLst>
        </pc:spChg>
      </pc:sldChg>
      <pc:sldChg chg="addSp mod modNotesTx">
        <pc:chgData name="Camila Kushiyama" userId="c43850c8224f67c2" providerId="LiveId" clId="{A828A837-F245-4754-8297-A20DE5B90207}" dt="2026-09-03T02:14:40.553" v="1215" actId="20577"/>
        <pc:sldMkLst>
          <pc:docMk/>
          <pc:sldMk cId="0" sldId="264"/>
        </pc:sldMkLst>
        <pc:picChg chg="add">
          <ac:chgData name="Camila Kushiyama" userId="c43850c8224f67c2" providerId="LiveId" clId="{A828A837-F245-4754-8297-A20DE5B90207}" dt="2026-09-02T02:54:35.225" v="848" actId="22"/>
          <ac:picMkLst>
            <pc:docMk/>
            <pc:sldMk cId="0" sldId="264"/>
            <ac:picMk id="8" creationId="{C9B8A146-44BF-07F4-B0C6-2D5BA33F03ED}"/>
          </ac:picMkLst>
        </pc:picChg>
      </pc:sldChg>
      <pc:sldChg chg="modSp mod modNotesTx">
        <pc:chgData name="Camila Kushiyama" userId="c43850c8224f67c2" providerId="LiveId" clId="{A828A837-F245-4754-8297-A20DE5B90207}" dt="2026-09-03T03:05:22.874" v="1368" actId="20577"/>
        <pc:sldMkLst>
          <pc:docMk/>
          <pc:sldMk cId="0" sldId="265"/>
        </pc:sldMkLst>
        <pc:spChg chg="mod">
          <ac:chgData name="Camila Kushiyama" userId="c43850c8224f67c2" providerId="LiveId" clId="{A828A837-F245-4754-8297-A20DE5B90207}" dt="2026-09-03T03:05:22.874" v="1368" actId="20577"/>
          <ac:spMkLst>
            <pc:docMk/>
            <pc:sldMk cId="0" sldId="265"/>
            <ac:spMk id="8" creationId="{00000000-0000-0000-0000-000000000000}"/>
          </ac:spMkLst>
        </pc:spChg>
      </pc:sldChg>
      <pc:sldChg chg="modSp mod modNotesTx">
        <pc:chgData name="Camila Kushiyama" userId="c43850c8224f67c2" providerId="LiveId" clId="{A828A837-F245-4754-8297-A20DE5B90207}" dt="2026-09-03T02:15:02.070" v="1218" actId="20577"/>
        <pc:sldMkLst>
          <pc:docMk/>
          <pc:sldMk cId="0" sldId="266"/>
        </pc:sldMkLst>
        <pc:spChg chg="mod">
          <ac:chgData name="Camila Kushiyama" userId="c43850c8224f67c2" providerId="LiveId" clId="{A828A837-F245-4754-8297-A20DE5B90207}" dt="2026-08-31T17:51:19.222" v="623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3T01:33:54.204" v="1100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3T01:36:36.088" v="1120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3T01:33:57.232" v="1101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3T01:34:22.224" v="1105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Camila Kushiyama" userId="c43850c8224f67c2" providerId="LiveId" clId="{A828A837-F245-4754-8297-A20DE5B90207}" dt="2026-08-31T18:09:32.590" v="680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Camila Kushiyama" userId="c43850c8224f67c2" providerId="LiveId" clId="{A828A837-F245-4754-8297-A20DE5B90207}" dt="2026-08-31T18:09:32.590" v="680" actId="1076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Camila Kushiyama" userId="c43850c8224f67c2" providerId="LiveId" clId="{A828A837-F245-4754-8297-A20DE5B90207}" dt="2026-08-31T18:09:35.890" v="681" actId="14100"/>
          <ac:picMkLst>
            <pc:docMk/>
            <pc:sldMk cId="0" sldId="266"/>
            <ac:picMk id="12" creationId="{00000000-0000-0000-0000-000000000000}"/>
          </ac:picMkLst>
        </pc:picChg>
        <pc:picChg chg="mod">
          <ac:chgData name="Camila Kushiyama" userId="c43850c8224f67c2" providerId="LiveId" clId="{A828A837-F245-4754-8297-A20DE5B90207}" dt="2026-08-31T18:09:42.853" v="683" actId="14100"/>
          <ac:picMkLst>
            <pc:docMk/>
            <pc:sldMk cId="0" sldId="266"/>
            <ac:picMk id="13" creationId="{00000000-0000-0000-0000-000000000000}"/>
          </ac:picMkLst>
        </pc:picChg>
      </pc:sldChg>
      <pc:sldChg chg="modSp mod modShow modNotesTx">
        <pc:chgData name="Camila Kushiyama" userId="c43850c8224f67c2" providerId="LiveId" clId="{A828A837-F245-4754-8297-A20DE5B90207}" dt="2026-09-03T02:35:25.485" v="1246" actId="34476"/>
        <pc:sldMkLst>
          <pc:docMk/>
          <pc:sldMk cId="0" sldId="267"/>
        </pc:sldMkLst>
        <pc:graphicFrameChg chg="modGraphic">
          <ac:chgData name="Camila Kushiyama" userId="c43850c8224f67c2" providerId="LiveId" clId="{A828A837-F245-4754-8297-A20DE5B90207}" dt="2026-09-02T00:19:55.220" v="823" actId="207"/>
          <ac:graphicFrameMkLst>
            <pc:docMk/>
            <pc:sldMk cId="0" sldId="267"/>
            <ac:graphicFrameMk id="7" creationId="{00000000-0000-0000-0000-000000000000}"/>
          </ac:graphicFrameMkLst>
        </pc:graphicFrameChg>
      </pc:sldChg>
      <pc:sldChg chg="modSp mod modNotesTx">
        <pc:chgData name="Camila Kushiyama" userId="c43850c8224f67c2" providerId="LiveId" clId="{A828A837-F245-4754-8297-A20DE5B90207}" dt="2026-09-03T02:15:11.157" v="1220" actId="20577"/>
        <pc:sldMkLst>
          <pc:docMk/>
          <pc:sldMk cId="0" sldId="268"/>
        </pc:sldMkLst>
        <pc:spChg chg="mod">
          <ac:chgData name="Camila Kushiyama" userId="c43850c8224f67c2" providerId="LiveId" clId="{A828A837-F245-4754-8297-A20DE5B90207}" dt="2026-08-31T14:21:05.222" v="56" actId="20577"/>
          <ac:spMkLst>
            <pc:docMk/>
            <pc:sldMk cId="0" sldId="268"/>
            <ac:spMk id="6" creationId="{00000000-0000-0000-0000-000000000000}"/>
          </ac:spMkLst>
        </pc:spChg>
      </pc:sldChg>
      <pc:sldChg chg="addSp mod modNotesTx">
        <pc:chgData name="Camila Kushiyama" userId="c43850c8224f67c2" providerId="LiveId" clId="{A828A837-F245-4754-8297-A20DE5B90207}" dt="2026-09-03T02:15:15.548" v="1221" actId="20577"/>
        <pc:sldMkLst>
          <pc:docMk/>
          <pc:sldMk cId="0" sldId="269"/>
        </pc:sldMkLst>
        <pc:picChg chg="add">
          <ac:chgData name="Camila Kushiyama" userId="c43850c8224f67c2" providerId="LiveId" clId="{A828A837-F245-4754-8297-A20DE5B90207}" dt="2026-09-02T02:54:38.275" v="849" actId="22"/>
          <ac:picMkLst>
            <pc:docMk/>
            <pc:sldMk cId="0" sldId="269"/>
            <ac:picMk id="8" creationId="{1F617FBD-4B60-A88B-DB4C-D1F1F7DED215}"/>
          </ac:picMkLst>
        </pc:picChg>
      </pc:sldChg>
      <pc:sldChg chg="modSp mod modNotesTx">
        <pc:chgData name="Camila Kushiyama" userId="c43850c8224f67c2" providerId="LiveId" clId="{A828A837-F245-4754-8297-A20DE5B90207}" dt="2026-09-03T02:15:21.690" v="1222" actId="20577"/>
        <pc:sldMkLst>
          <pc:docMk/>
          <pc:sldMk cId="0" sldId="270"/>
        </pc:sldMkLst>
        <pc:graphicFrameChg chg="modGraphic">
          <ac:chgData name="Camila Kushiyama" userId="c43850c8224f67c2" providerId="LiveId" clId="{A828A837-F245-4754-8297-A20DE5B90207}" dt="2026-09-01T02:30:23.029" v="748" actId="20577"/>
          <ac:graphicFrameMkLst>
            <pc:docMk/>
            <pc:sldMk cId="0" sldId="270"/>
            <ac:graphicFrameMk id="6" creationId="{00000000-0000-0000-0000-000000000000}"/>
          </ac:graphicFrameMkLst>
        </pc:graphicFrameChg>
      </pc:sldChg>
      <pc:sldChg chg="modSp mod modNotesTx">
        <pc:chgData name="Camila Kushiyama" userId="c43850c8224f67c2" providerId="LiveId" clId="{A828A837-F245-4754-8297-A20DE5B90207}" dt="2026-09-03T03:04:44.942" v="1351" actId="20577"/>
        <pc:sldMkLst>
          <pc:docMk/>
          <pc:sldMk cId="0" sldId="271"/>
        </pc:sldMkLst>
        <pc:graphicFrameChg chg="modGraphic">
          <ac:chgData name="Camila Kushiyama" userId="c43850c8224f67c2" providerId="LiveId" clId="{A828A837-F245-4754-8297-A20DE5B90207}" dt="2026-09-03T03:04:44.942" v="1351" actId="20577"/>
          <ac:graphicFrameMkLst>
            <pc:docMk/>
            <pc:sldMk cId="0" sldId="271"/>
            <ac:graphicFrameMk id="7" creationId="{00000000-0000-0000-0000-000000000000}"/>
          </ac:graphicFrameMkLst>
        </pc:graphicFrameChg>
      </pc:sldChg>
      <pc:sldChg chg="modNotesTx">
        <pc:chgData name="Camila Kushiyama" userId="c43850c8224f67c2" providerId="LiveId" clId="{A828A837-F245-4754-8297-A20DE5B90207}" dt="2026-09-03T02:15:36.545" v="1224" actId="20577"/>
        <pc:sldMkLst>
          <pc:docMk/>
          <pc:sldMk cId="0" sldId="272"/>
        </pc:sldMkLst>
      </pc:sldChg>
      <pc:sldChg chg="modNotesTx">
        <pc:chgData name="Camila Kushiyama" userId="c43850c8224f67c2" providerId="LiveId" clId="{A828A837-F245-4754-8297-A20DE5B90207}" dt="2026-09-03T02:15:42.059" v="1225" actId="20577"/>
        <pc:sldMkLst>
          <pc:docMk/>
          <pc:sldMk cId="0" sldId="273"/>
        </pc:sldMkLst>
      </pc:sldChg>
      <pc:sldChg chg="modNotesTx">
        <pc:chgData name="Camila Kushiyama" userId="c43850c8224f67c2" providerId="LiveId" clId="{A828A837-F245-4754-8297-A20DE5B90207}" dt="2026-09-03T02:15:48.194" v="1226" actId="20577"/>
        <pc:sldMkLst>
          <pc:docMk/>
          <pc:sldMk cId="0" sldId="274"/>
        </pc:sldMkLst>
      </pc:sldChg>
      <pc:sldChg chg="addSp mod modNotesTx">
        <pc:chgData name="Camila Kushiyama" userId="c43850c8224f67c2" providerId="LiveId" clId="{A828A837-F245-4754-8297-A20DE5B90207}" dt="2026-09-03T02:15:53.519" v="1227" actId="20577"/>
        <pc:sldMkLst>
          <pc:docMk/>
          <pc:sldMk cId="0" sldId="275"/>
        </pc:sldMkLst>
        <pc:picChg chg="add">
          <ac:chgData name="Camila Kushiyama" userId="c43850c8224f67c2" providerId="LiveId" clId="{A828A837-F245-4754-8297-A20DE5B90207}" dt="2026-09-02T02:54:41.234" v="850" actId="22"/>
          <ac:picMkLst>
            <pc:docMk/>
            <pc:sldMk cId="0" sldId="275"/>
            <ac:picMk id="8" creationId="{2063A704-ACEE-AC97-84E4-C7B6A0491E77}"/>
          </ac:picMkLst>
        </pc:picChg>
      </pc:sldChg>
      <pc:sldChg chg="modSp mod modNotesTx">
        <pc:chgData name="Camila Kushiyama" userId="c43850c8224f67c2" providerId="LiveId" clId="{A828A837-F245-4754-8297-A20DE5B90207}" dt="2026-09-03T02:16:06.014" v="1230" actId="20577"/>
        <pc:sldMkLst>
          <pc:docMk/>
          <pc:sldMk cId="0" sldId="276"/>
        </pc:sldMkLst>
        <pc:spChg chg="mod">
          <ac:chgData name="Camila Kushiyama" userId="c43850c8224f67c2" providerId="LiveId" clId="{A828A837-F245-4754-8297-A20DE5B90207}" dt="2026-09-03T00:02:57.973" v="1077" actId="20577"/>
          <ac:spMkLst>
            <pc:docMk/>
            <pc:sldMk cId="0" sldId="276"/>
            <ac:spMk id="29" creationId="{00000000-0000-0000-0000-000000000000}"/>
          </ac:spMkLst>
        </pc:spChg>
      </pc:sldChg>
      <pc:sldChg chg="modSp mod modNotesTx">
        <pc:chgData name="Camila Kushiyama" userId="c43850c8224f67c2" providerId="LiveId" clId="{A828A837-F245-4754-8297-A20DE5B90207}" dt="2026-09-03T02:16:10.621" v="1231" actId="20577"/>
        <pc:sldMkLst>
          <pc:docMk/>
          <pc:sldMk cId="0" sldId="277"/>
        </pc:sldMkLst>
        <pc:spChg chg="mod">
          <ac:chgData name="Camila Kushiyama" userId="c43850c8224f67c2" providerId="LiveId" clId="{A828A837-F245-4754-8297-A20DE5B90207}" dt="2026-09-03T00:09:58.953" v="1085" actId="20577"/>
          <ac:spMkLst>
            <pc:docMk/>
            <pc:sldMk cId="0" sldId="277"/>
            <ac:spMk id="11" creationId="{00000000-0000-0000-0000-000000000000}"/>
          </ac:spMkLst>
        </pc:spChg>
      </pc:sldChg>
      <pc:sldChg chg="addSp mod modNotesTx">
        <pc:chgData name="Camila Kushiyama" userId="c43850c8224f67c2" providerId="LiveId" clId="{A828A837-F245-4754-8297-A20DE5B90207}" dt="2026-09-03T02:16:13.670" v="1232" actId="20577"/>
        <pc:sldMkLst>
          <pc:docMk/>
          <pc:sldMk cId="0" sldId="278"/>
        </pc:sldMkLst>
        <pc:picChg chg="add">
          <ac:chgData name="Camila Kushiyama" userId="c43850c8224f67c2" providerId="LiveId" clId="{A828A837-F245-4754-8297-A20DE5B90207}" dt="2026-09-02T02:54:43.966" v="851" actId="22"/>
          <ac:picMkLst>
            <pc:docMk/>
            <pc:sldMk cId="0" sldId="278"/>
            <ac:picMk id="8" creationId="{A79D7432-360E-C943-66CE-997E93F34DD3}"/>
          </ac:picMkLst>
        </pc:picChg>
      </pc:sldChg>
      <pc:sldChg chg="modNotesTx">
        <pc:chgData name="Camila Kushiyama" userId="c43850c8224f67c2" providerId="LiveId" clId="{A828A837-F245-4754-8297-A20DE5B90207}" dt="2026-09-03T02:16:18.961" v="1233" actId="20577"/>
        <pc:sldMkLst>
          <pc:docMk/>
          <pc:sldMk cId="0" sldId="279"/>
        </pc:sldMkLst>
      </pc:sldChg>
      <pc:sldChg chg="modSp mod modNotesTx">
        <pc:chgData name="Camila Kushiyama" userId="c43850c8224f67c2" providerId="LiveId" clId="{A828A837-F245-4754-8297-A20DE5B90207}" dt="2026-09-03T02:16:23.795" v="1234" actId="20577"/>
        <pc:sldMkLst>
          <pc:docMk/>
          <pc:sldMk cId="0" sldId="280"/>
        </pc:sldMkLst>
        <pc:spChg chg="mod">
          <ac:chgData name="Camila Kushiyama" userId="c43850c8224f67c2" providerId="LiveId" clId="{A828A837-F245-4754-8297-A20DE5B90207}" dt="2026-09-03T01:50:40.536" v="1142" actId="20577"/>
          <ac:spMkLst>
            <pc:docMk/>
            <pc:sldMk cId="0" sldId="280"/>
            <ac:spMk id="13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3T01:50:58.044" v="1193" actId="20577"/>
          <ac:spMkLst>
            <pc:docMk/>
            <pc:sldMk cId="0" sldId="280"/>
            <ac:spMk id="14" creationId="{00000000-0000-0000-0000-000000000000}"/>
          </ac:spMkLst>
        </pc:spChg>
      </pc:sldChg>
      <pc:sldChg chg="addSp modSp mod modNotesTx">
        <pc:chgData name="Camila Kushiyama" userId="c43850c8224f67c2" providerId="LiveId" clId="{A828A837-F245-4754-8297-A20DE5B90207}" dt="2026-09-03T02:16:27.846" v="1235" actId="20577"/>
        <pc:sldMkLst>
          <pc:docMk/>
          <pc:sldMk cId="0" sldId="281"/>
        </pc:sldMkLst>
        <pc:picChg chg="add mod ord">
          <ac:chgData name="Camila Kushiyama" userId="c43850c8224f67c2" providerId="LiveId" clId="{A828A837-F245-4754-8297-A20DE5B90207}" dt="2026-09-02T14:41:44.075" v="1057" actId="1076"/>
          <ac:picMkLst>
            <pc:docMk/>
            <pc:sldMk cId="0" sldId="281"/>
            <ac:picMk id="17" creationId="{487DC541-0A98-E2BC-3158-3E46703F1496}"/>
          </ac:picMkLst>
        </pc:picChg>
      </pc:sldChg>
      <pc:sldChg chg="modSp add mod ord setBg modNotesTx">
        <pc:chgData name="Camila Kushiyama" userId="c43850c8224f67c2" providerId="LiveId" clId="{A828A837-F245-4754-8297-A20DE5B90207}" dt="2026-09-03T02:14:21.386" v="1211" actId="20577"/>
        <pc:sldMkLst>
          <pc:docMk/>
          <pc:sldMk cId="0" sldId="282"/>
        </pc:sldMkLst>
        <pc:spChg chg="mod">
          <ac:chgData name="Camila Kushiyama" userId="c43850c8224f67c2" providerId="LiveId" clId="{A828A837-F245-4754-8297-A20DE5B90207}" dt="2026-09-03T01:15:34.556" v="1090" actId="20577"/>
          <ac:spMkLst>
            <pc:docMk/>
            <pc:sldMk cId="0" sldId="282"/>
            <ac:spMk id="3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1T02:50:30.231" v="812" actId="255"/>
          <ac:spMkLst>
            <pc:docMk/>
            <pc:sldMk cId="0" sldId="282"/>
            <ac:spMk id="6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1T02:51:36.473" v="813" actId="20577"/>
          <ac:spMkLst>
            <pc:docMk/>
            <pc:sldMk cId="0" sldId="282"/>
            <ac:spMk id="12" creationId="{00000000-0000-0000-0000-000000000000}"/>
          </ac:spMkLst>
        </pc:spChg>
      </pc:sldChg>
      <pc:sldChg chg="add modNotesTx">
        <pc:chgData name="Camila Kushiyama" userId="c43850c8224f67c2" providerId="LiveId" clId="{A828A837-F245-4754-8297-A20DE5B90207}" dt="2026-09-03T02:17:21.111" v="1244" actId="20577"/>
        <pc:sldMkLst>
          <pc:docMk/>
          <pc:sldMk cId="0" sldId="283"/>
        </pc:sldMkLst>
      </pc:sldChg>
      <pc:sldChg chg="modSp add del mod modNotesTx">
        <pc:chgData name="Camila Kushiyama" userId="c43850c8224f67c2" providerId="LiveId" clId="{A828A837-F245-4754-8297-A20DE5B90207}" dt="2026-09-03T02:15:57.561" v="1228" actId="20577"/>
        <pc:sldMkLst>
          <pc:docMk/>
          <pc:sldMk cId="0" sldId="284"/>
        </pc:sldMkLst>
        <pc:spChg chg="mod">
          <ac:chgData name="Camila Kushiyama" userId="c43850c8224f67c2" providerId="LiveId" clId="{A828A837-F245-4754-8297-A20DE5B90207}" dt="2026-09-02T14:10:02.240" v="1055" actId="403"/>
          <ac:spMkLst>
            <pc:docMk/>
            <pc:sldMk cId="0" sldId="284"/>
            <ac:spMk id="23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2T14:01:32.952" v="1037" actId="20577"/>
          <ac:spMkLst>
            <pc:docMk/>
            <pc:sldMk cId="0" sldId="284"/>
            <ac:spMk id="44" creationId="{00000000-0000-0000-0000-000000000000}"/>
          </ac:spMkLst>
        </pc:spChg>
        <pc:spChg chg="mod">
          <ac:chgData name="Camila Kushiyama" userId="c43850c8224f67c2" providerId="LiveId" clId="{A828A837-F245-4754-8297-A20DE5B90207}" dt="2026-09-02T13:59:59.863" v="859" actId="20577"/>
          <ac:spMkLst>
            <pc:docMk/>
            <pc:sldMk cId="0" sldId="284"/>
            <ac:spMk id="61" creationId="{00000000-0000-0000-0000-000000000000}"/>
          </ac:spMkLst>
        </pc:spChg>
      </pc:sldChg>
      <pc:sldChg chg="modSp add mod setBg modShow modNotesTx">
        <pc:chgData name="Camila Kushiyama" userId="c43850c8224f67c2" providerId="LiveId" clId="{A828A837-F245-4754-8297-A20DE5B90207}" dt="2026-09-03T02:38:32.260" v="1343" actId="20577"/>
        <pc:sldMkLst>
          <pc:docMk/>
          <pc:sldMk cId="0" sldId="285"/>
        </pc:sldMkLst>
        <pc:spChg chg="mod">
          <ac:chgData name="Camila Kushiyama" userId="c43850c8224f67c2" providerId="LiveId" clId="{A828A837-F245-4754-8297-A20DE5B90207}" dt="2026-09-03T02:38:32.260" v="1343" actId="20577"/>
          <ac:spMkLst>
            <pc:docMk/>
            <pc:sldMk cId="0" sldId="285"/>
            <ac:spMk id="3" creationId="{00000000-0000-0000-0000-000000000000}"/>
          </ac:spMkLst>
        </pc:spChg>
      </pc:sldChg>
      <pc:sldChg chg="add mod setBg modShow modNotesTx">
        <pc:chgData name="Camila Kushiyama" userId="c43850c8224f67c2" providerId="LiveId" clId="{A828A837-F245-4754-8297-A20DE5B90207}" dt="2026-09-03T02:16:37.700" v="1237" actId="20577"/>
        <pc:sldMkLst>
          <pc:docMk/>
          <pc:sldMk cId="0" sldId="286"/>
        </pc:sldMkLst>
      </pc:sldChg>
      <pc:sldChg chg="add mod setBg modShow modNotesTx">
        <pc:chgData name="Camila Kushiyama" userId="c43850c8224f67c2" providerId="LiveId" clId="{A828A837-F245-4754-8297-A20DE5B90207}" dt="2026-09-03T02:16:44.485" v="1239" actId="20577"/>
        <pc:sldMkLst>
          <pc:docMk/>
          <pc:sldMk cId="0" sldId="287"/>
        </pc:sldMkLst>
      </pc:sldChg>
      <pc:sldChg chg="add mod modShow modNotesTx">
        <pc:chgData name="Camila Kushiyama" userId="c43850c8224f67c2" providerId="LiveId" clId="{A828A837-F245-4754-8297-A20DE5B90207}" dt="2026-09-03T02:16:01.688" v="1229" actId="20577"/>
        <pc:sldMkLst>
          <pc:docMk/>
          <pc:sldMk cId="0" sldId="288"/>
        </pc:sldMkLst>
      </pc:sldChg>
      <pc:sldChg chg="add mod setBg modShow modNotesTx">
        <pc:chgData name="Camila Kushiyama" userId="c43850c8224f67c2" providerId="LiveId" clId="{A828A837-F245-4754-8297-A20DE5B90207}" dt="2026-09-03T02:16:54.557" v="1241" actId="20577"/>
        <pc:sldMkLst>
          <pc:docMk/>
          <pc:sldMk cId="0" sldId="289"/>
        </pc:sldMkLst>
      </pc:sldChg>
      <pc:sldChg chg="modSp add mod modShow modNotesTx">
        <pc:chgData name="Camila Kushiyama" userId="c43850c8224f67c2" providerId="LiveId" clId="{A828A837-F245-4754-8297-A20DE5B90207}" dt="2026-09-03T02:16:58.532" v="1242" actId="20577"/>
        <pc:sldMkLst>
          <pc:docMk/>
          <pc:sldMk cId="0" sldId="290"/>
        </pc:sldMkLst>
        <pc:spChg chg="mod">
          <ac:chgData name="Camila Kushiyama" userId="c43850c8224f67c2" providerId="LiveId" clId="{A828A837-F245-4754-8297-A20DE5B90207}" dt="2026-09-02T20:58:31.694" v="1072" actId="20577"/>
          <ac:spMkLst>
            <pc:docMk/>
            <pc:sldMk cId="0" sldId="290"/>
            <ac:spMk id="3" creationId="{00000000-0000-0000-0000-000000000000}"/>
          </ac:spMkLst>
        </pc:spChg>
      </pc:sldChg>
      <pc:sldChg chg="add del mod modShow modNotesTx">
        <pc:chgData name="Camila Kushiyama" userId="c43850c8224f67c2" providerId="LiveId" clId="{A828A837-F245-4754-8297-A20DE5B90207}" dt="2026-09-03T02:17:02.612" v="1243" actId="20577"/>
        <pc:sldMkLst>
          <pc:docMk/>
          <pc:sldMk cId="0" sldId="291"/>
        </pc:sldMkLst>
      </pc:sldChg>
      <pc:sldChg chg="modSp add mod setBg modNotesTx">
        <pc:chgData name="Camila Kushiyama" userId="c43850c8224f67c2" providerId="LiveId" clId="{A828A837-F245-4754-8297-A20DE5B90207}" dt="2026-09-03T02:14:53.045" v="1217" actId="20577"/>
        <pc:sldMkLst>
          <pc:docMk/>
          <pc:sldMk cId="0" sldId="292"/>
        </pc:sldMkLst>
        <pc:spChg chg="mod">
          <ac:chgData name="Camila Kushiyama" userId="c43850c8224f67c2" providerId="LiveId" clId="{A828A837-F245-4754-8297-A20DE5B90207}" dt="2026-09-03T01:58:16.982" v="1204" actId="20577"/>
          <ac:spMkLst>
            <pc:docMk/>
            <pc:sldMk cId="0" sldId="292"/>
            <ac:spMk id="3" creationId="{00000000-0000-0000-0000-000000000000}"/>
          </ac:spMkLst>
        </pc:spChg>
      </pc:sldChg>
      <pc:sldChg chg="delSp modSp add mod">
        <pc:chgData name="Camila Kushiyama" userId="c43850c8224f67c2" providerId="LiveId" clId="{A828A837-F245-4754-8297-A20DE5B90207}" dt="2026-09-03T02:37:45.949" v="1321" actId="5793"/>
        <pc:sldMkLst>
          <pc:docMk/>
          <pc:sldMk cId="2564018941" sldId="293"/>
        </pc:sldMkLst>
        <pc:spChg chg="del">
          <ac:chgData name="Camila Kushiyama" userId="c43850c8224f67c2" providerId="LiveId" clId="{A828A837-F245-4754-8297-A20DE5B90207}" dt="2026-09-03T02:37:23.750" v="1261" actId="478"/>
          <ac:spMkLst>
            <pc:docMk/>
            <pc:sldMk cId="2564018941" sldId="293"/>
            <ac:spMk id="4" creationId="{C0CC31B9-D866-B41B-4CFB-A041ED7885F1}"/>
          </ac:spMkLst>
        </pc:spChg>
        <pc:spChg chg="mod">
          <ac:chgData name="Camila Kushiyama" userId="c43850c8224f67c2" providerId="LiveId" clId="{A828A837-F245-4754-8297-A20DE5B90207}" dt="2026-09-03T02:37:45.949" v="1321" actId="5793"/>
          <ac:spMkLst>
            <pc:docMk/>
            <pc:sldMk cId="2564018941" sldId="293"/>
            <ac:spMk id="5" creationId="{64A849C4-23A5-0CB5-61A4-50D050E42875}"/>
          </ac:spMkLst>
        </pc:spChg>
        <pc:spChg chg="del">
          <ac:chgData name="Camila Kushiyama" userId="c43850c8224f67c2" providerId="LiveId" clId="{A828A837-F245-4754-8297-A20DE5B90207}" dt="2026-09-03T02:37:14.820" v="1258" actId="478"/>
          <ac:spMkLst>
            <pc:docMk/>
            <pc:sldMk cId="2564018941" sldId="293"/>
            <ac:spMk id="6" creationId="{A3C73F10-25BE-20A5-96B1-FA7CE5F80ACF}"/>
          </ac:spMkLst>
        </pc:spChg>
        <pc:spChg chg="del">
          <ac:chgData name="Camila Kushiyama" userId="c43850c8224f67c2" providerId="LiveId" clId="{A828A837-F245-4754-8297-A20DE5B90207}" dt="2026-09-03T02:36:55.493" v="1253" actId="478"/>
          <ac:spMkLst>
            <pc:docMk/>
            <pc:sldMk cId="2564018941" sldId="293"/>
            <ac:spMk id="7" creationId="{8C3D93F4-1651-D15D-A051-5B997F212311}"/>
          </ac:spMkLst>
        </pc:spChg>
        <pc:spChg chg="del mod">
          <ac:chgData name="Camila Kushiyama" userId="c43850c8224f67c2" providerId="LiveId" clId="{A828A837-F245-4754-8297-A20DE5B90207}" dt="2026-09-03T02:36:49.782" v="1252" actId="478"/>
          <ac:spMkLst>
            <pc:docMk/>
            <pc:sldMk cId="2564018941" sldId="293"/>
            <ac:spMk id="8" creationId="{B50EF6D3-B7E5-7369-DA8B-2A45D95512C2}"/>
          </ac:spMkLst>
        </pc:spChg>
        <pc:spChg chg="del">
          <ac:chgData name="Camila Kushiyama" userId="c43850c8224f67c2" providerId="LiveId" clId="{A828A837-F245-4754-8297-A20DE5B90207}" dt="2026-09-03T02:37:11.904" v="1257" actId="478"/>
          <ac:spMkLst>
            <pc:docMk/>
            <pc:sldMk cId="2564018941" sldId="293"/>
            <ac:spMk id="9" creationId="{0B620211-6550-2648-5B70-27D7BB3A7528}"/>
          </ac:spMkLst>
        </pc:spChg>
        <pc:spChg chg="del">
          <ac:chgData name="Camila Kushiyama" userId="c43850c8224f67c2" providerId="LiveId" clId="{A828A837-F245-4754-8297-A20DE5B90207}" dt="2026-09-03T02:37:02.338" v="1254" actId="478"/>
          <ac:spMkLst>
            <pc:docMk/>
            <pc:sldMk cId="2564018941" sldId="293"/>
            <ac:spMk id="10" creationId="{61BA3DB0-8246-B393-95EE-4B4DD194BF60}"/>
          </ac:spMkLst>
        </pc:spChg>
        <pc:spChg chg="del">
          <ac:chgData name="Camila Kushiyama" userId="c43850c8224f67c2" providerId="LiveId" clId="{A828A837-F245-4754-8297-A20DE5B90207}" dt="2026-09-03T02:36:45.514" v="1250" actId="478"/>
          <ac:spMkLst>
            <pc:docMk/>
            <pc:sldMk cId="2564018941" sldId="293"/>
            <ac:spMk id="11" creationId="{28A0BDD0-C1E0-BFB8-78B7-95663CF150D0}"/>
          </ac:spMkLst>
        </pc:spChg>
        <pc:spChg chg="del">
          <ac:chgData name="Camila Kushiyama" userId="c43850c8224f67c2" providerId="LiveId" clId="{A828A837-F245-4754-8297-A20DE5B90207}" dt="2026-09-03T02:37:08.875" v="1256" actId="478"/>
          <ac:spMkLst>
            <pc:docMk/>
            <pc:sldMk cId="2564018941" sldId="293"/>
            <ac:spMk id="12" creationId="{7B766C04-3185-766E-2915-DF14CD830E32}"/>
          </ac:spMkLst>
        </pc:spChg>
        <pc:spChg chg="del">
          <ac:chgData name="Camila Kushiyama" userId="c43850c8224f67c2" providerId="LiveId" clId="{A828A837-F245-4754-8297-A20DE5B90207}" dt="2026-09-03T02:37:06.093" v="1255" actId="478"/>
          <ac:spMkLst>
            <pc:docMk/>
            <pc:sldMk cId="2564018941" sldId="293"/>
            <ac:spMk id="13" creationId="{FB7C8446-3067-DFFA-6E31-FDFD10A627DB}"/>
          </ac:spMkLst>
        </pc:spChg>
        <pc:spChg chg="del mod">
          <ac:chgData name="Camila Kushiyama" userId="c43850c8224f67c2" providerId="LiveId" clId="{A828A837-F245-4754-8297-A20DE5B90207}" dt="2026-09-03T02:36:43.397" v="1249" actId="478"/>
          <ac:spMkLst>
            <pc:docMk/>
            <pc:sldMk cId="2564018941" sldId="293"/>
            <ac:spMk id="14" creationId="{09FDF70F-437C-5D42-F015-D49BF3353915}"/>
          </ac:spMkLst>
        </pc:spChg>
        <pc:spChg chg="del mod">
          <ac:chgData name="Camila Kushiyama" userId="c43850c8224f67c2" providerId="LiveId" clId="{A828A837-F245-4754-8297-A20DE5B90207}" dt="2026-09-03T02:37:20.377" v="1260" actId="478"/>
          <ac:spMkLst>
            <pc:docMk/>
            <pc:sldMk cId="2564018941" sldId="293"/>
            <ac:spMk id="15" creationId="{81246280-40F4-D11B-9EDA-275BBC6374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32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245D-3CB3-1A07-1C3D-3D450D0A4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68012-89DE-897A-0761-C9D2933A5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61D06-7982-0F68-68BD-EE1FB93ED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EF1DA-88E5-DE9D-01C8-23744889A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88749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48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3A8DE"/>
                </a:solidFill>
                <a:latin typeface="Calibri"/>
              </a:rPr>
              <a:t>CASE TÉCNICO · CIÊNCIA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Previsão de produção
de açúcar e confeitaria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63A8DE"/>
                </a:solidFill>
                <a:latin typeface="Calibri"/>
              </a:rPr>
              <a:t>Quando o modelo se paga — e quando o mais simples é a resposta certa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120640"/>
            <a:ext cx="2926080" cy="12700"/>
          </a:xfrm>
          <a:prstGeom prst="rect">
            <a:avLst/>
          </a:prstGeom>
          <a:solidFill>
            <a:srgbClr val="2A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5A6472"/>
                </a:solidFill>
                <a:latin typeface="Calibri"/>
              </a:rPr>
              <a:t>FRED IPG3113N · 548 observações mensais · 1972–2017
Apresentação para gestão direta · validação do racional</a:t>
            </a:r>
          </a:p>
        </p:txBody>
      </p:sp>
      <p:pic>
        <p:nvPicPr>
          <p:cNvPr id="9" name="Imagem 8" descr="Nestle Logo and symbol, meaning, history, PNG, brand">
            <a:extLst>
              <a:ext uri="{FF2B5EF4-FFF2-40B4-BE49-F238E27FC236}">
                <a16:creationId xmlns:a16="http://schemas.microsoft.com/office/drawing/2014/main" id="{7B598DBC-20F4-3C10-EFE2-43A74126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29" y="434474"/>
            <a:ext cx="4675066" cy="2629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O caminho desta conversa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3429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8100" cy="1371600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8745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5CA9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4884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240"/>
                </a:solidFill>
                <a:latin typeface="Georgia"/>
              </a:rPr>
              <a:t>Contextualização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3288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A dor de quem planeja capacidade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429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38100" cy="1371600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18745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5CA9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14884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240"/>
                </a:solidFill>
                <a:latin typeface="Georgia"/>
              </a:rPr>
              <a:t>Alternativas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53288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O que foi considerado e o que ficou de fora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1691640"/>
            <a:ext cx="3429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5864" y="1691640"/>
            <a:ext cx="38100" cy="1371600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1896" y="18745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5CA9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240"/>
                </a:solidFill>
                <a:latin typeface="Georgia"/>
              </a:rPr>
              <a:t>Desenvolvimento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3288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Da série ao modelo, com um bug no meio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47288"/>
            <a:ext cx="3429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447288"/>
            <a:ext cx="38100" cy="1371600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36301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5CA9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90448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240"/>
                </a:solidFill>
                <a:latin typeface="Georgia"/>
              </a:rPr>
              <a:t>Resultados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288536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Onde o modelo se paga — e onde não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3447288"/>
            <a:ext cx="3429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70832" y="3447288"/>
            <a:ext cx="38100" cy="1371600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26864" y="36301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5CA9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390448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240"/>
                </a:solidFill>
                <a:latin typeface="Georgia"/>
              </a:rPr>
              <a:t>Arquitetura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4288536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Como isso vira produto em produção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5864" y="3447288"/>
            <a:ext cx="3429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55864" y="3447288"/>
            <a:ext cx="38100" cy="1371600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11896" y="36301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5CA9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390448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240"/>
                </a:solidFill>
                <a:latin typeface="Georgia"/>
              </a:rPr>
              <a:t>Evoluções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288536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Limitações, riscos e próximos passos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B4226"/>
                </a:solidFill>
                <a:latin typeface="Calibri"/>
              </a:rPr>
              <a:t>Há um ponto de virada no bloco 04. É onde a conclusão que eu tinha no meio do caminho foi derrubada por um teste — e é o que eu mais quero discutir com vocês.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3A8DE"/>
                </a:solidFill>
                <a:latin typeface="Calibri"/>
              </a:rPr>
              <a:t>Qual problema, qual dor, e o que muda se resolvermos</a:t>
            </a:r>
          </a:p>
        </p:txBody>
      </p:sp>
      <p:pic>
        <p:nvPicPr>
          <p:cNvPr id="9" name="Imagem 8" descr="Nestle Logo and symbol, meaning, history, PNG, brand">
            <a:extLst>
              <a:ext uri="{FF2B5EF4-FFF2-40B4-BE49-F238E27FC236}">
                <a16:creationId xmlns:a16="http://schemas.microsoft.com/office/drawing/2014/main" id="{26D64A11-F233-8C50-5913-D53D4634A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29" y="434474"/>
            <a:ext cx="4675066" cy="2629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01 · O PROBLEMA ESCOLHIDO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Errar a previsão custa dos dois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577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F28"/>
                </a:solidFill>
                <a:latin typeface="Calibri"/>
              </a:rPr>
              <a:t>Planejamento de capacidade e estoque (S&amp;OP) em confeitaria: uma indústria com sazonalidade extrema e concentração de receita em poucos meses do ano.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063240"/>
            <a:ext cx="5577840" cy="10241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38100" cy="1024128"/>
          </a:xfrm>
          <a:prstGeom prst="rect">
            <a:avLst/>
          </a:prstGeom>
          <a:solidFill>
            <a:srgbClr val="B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320954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342A"/>
                </a:solidFill>
                <a:latin typeface="Calibri"/>
              </a:rPr>
              <a:t>Previsão alta demais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5204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Capacidade ociosa, estoque parado, capital imobilizado num produto com validade.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233672"/>
            <a:ext cx="5577840" cy="10241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233672"/>
            <a:ext cx="38100" cy="1024128"/>
          </a:xfrm>
          <a:prstGeom prst="rect">
            <a:avLst/>
          </a:prstGeom>
          <a:solidFill>
            <a:srgbClr val="B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437997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342A"/>
                </a:solidFill>
                <a:latin typeface="Calibri"/>
              </a:rPr>
              <a:t>Previsão baixa demais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90872"/>
            <a:ext cx="5120640" cy="206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 err="1">
                <a:solidFill>
                  <a:srgbClr val="5A6472"/>
                </a:solidFill>
                <a:latin typeface="Calibri"/>
              </a:rPr>
              <a:t>Ruptura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na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temporada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perde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-se a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venda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no</a:t>
            </a:r>
            <a:r>
              <a:rPr lang="pt-BR"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momento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em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ela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existe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404104"/>
            <a:ext cx="5577840" cy="10241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5404104"/>
            <a:ext cx="38100" cy="1024128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555040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4226"/>
                </a:solidFill>
                <a:latin typeface="Calibri"/>
              </a:rPr>
              <a:t>O que agrava aqui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5861304"/>
            <a:ext cx="5120640" cy="428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5A6472"/>
                </a:solidFill>
                <a:latin typeface="Calibri"/>
              </a:rPr>
              <a:t>Set–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dez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concentram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lang="pt-BR" sz="1200" dirty="0">
                <a:solidFill>
                  <a:srgbClr val="5A6472"/>
                </a:solidFill>
                <a:latin typeface="Calibri"/>
              </a:rPr>
              <a:t>79,2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% d</a:t>
            </a:r>
            <a:r>
              <a:rPr lang="pt-BR" sz="1200" b="0" i="0">
                <a:solidFill>
                  <a:srgbClr val="5A6472"/>
                </a:solidFill>
                <a:latin typeface="Calibri"/>
              </a:rPr>
              <a:t>os ruídos</a:t>
            </a:r>
            <a:r>
              <a:rPr sz="1200" b="0" i="0">
                <a:solidFill>
                  <a:srgbClr val="5A6472"/>
                </a:solidFill>
                <a:latin typeface="Calibri"/>
              </a:rPr>
              <a:t>. 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O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erro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no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pico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não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se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compensa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depois</a:t>
            </a:r>
            <a:r>
              <a:rPr lang="pt-BR" sz="1200" dirty="0">
                <a:solidFill>
                  <a:srgbClr val="5A6472"/>
                </a:solidFill>
                <a:latin typeface="Calibri"/>
              </a:rPr>
              <a:t> (e veremos que as maiores surpresas também)</a:t>
            </a:r>
            <a:endParaRPr sz="120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41770" y="3474239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A6472"/>
                </a:solidFill>
                <a:latin typeface="Calibri"/>
              </a:rPr>
              <a:t>A série completa, com recessões NBER sombreadas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55749E71-51AF-0948-6B2F-A7831041F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5" y="1600200"/>
            <a:ext cx="5509569" cy="1856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01 · COMO EU ENQUADREI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A pergunta não é “qual o melhor modelo”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Todo modelo vence alguma comparação. A pergunta que decide investimento é outra: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86000"/>
            <a:ext cx="10817352" cy="105156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 dirty="0">
                <a:solidFill>
                  <a:srgbClr val="FFFFFF"/>
                </a:solidFill>
                <a:latin typeface="Georgia"/>
              </a:rPr>
              <a:t>O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ganho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sobre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o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método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simples se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sustenta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— e se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repete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quando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eu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mudo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o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período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avaliado</a:t>
            </a:r>
            <a:r>
              <a:rPr sz="2100" b="1" i="0" dirty="0">
                <a:solidFill>
                  <a:srgbClr val="FFFFFF"/>
                </a:solidFill>
                <a:latin typeface="Georgia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550" b="1" dirty="0">
                <a:solidFill>
                  <a:srgbClr val="1A1F28"/>
                </a:solidFill>
                <a:latin typeface="Calibri"/>
              </a:rPr>
              <a:t>Baseline </a:t>
            </a:r>
            <a:r>
              <a:rPr sz="1550" b="1" dirty="0" err="1">
                <a:solidFill>
                  <a:srgbClr val="1A1F28"/>
                </a:solidFill>
                <a:latin typeface="Calibri"/>
              </a:rPr>
              <a:t>obrigatório</a:t>
            </a:r>
            <a:r>
              <a:rPr sz="1550" b="1" dirty="0">
                <a:solidFill>
                  <a:srgbClr val="1A1F28"/>
                </a:solidFill>
                <a:latin typeface="Calibri"/>
              </a:rPr>
              <a:t>, </a:t>
            </a:r>
            <a:r>
              <a:rPr sz="1550" b="1" dirty="0" err="1">
                <a:solidFill>
                  <a:srgbClr val="1A1F28"/>
                </a:solidFill>
                <a:latin typeface="Calibri"/>
              </a:rPr>
              <a:t>não</a:t>
            </a:r>
            <a:r>
              <a:rPr sz="155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1A1F28"/>
                </a:solidFill>
                <a:latin typeface="Calibri"/>
              </a:rPr>
              <a:t>opcional</a:t>
            </a:r>
            <a:endParaRPr sz="155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sz="1350" b="0" dirty="0">
                <a:solidFill>
                  <a:srgbClr val="5A6472"/>
                </a:solidFill>
                <a:latin typeface="Calibri"/>
              </a:rPr>
              <a:t>— O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piso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é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repetir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o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mesmo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mês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do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ano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anterior.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Nenhum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modelo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justifica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manutenção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se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não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superar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isso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550" b="1" dirty="0" err="1">
                <a:solidFill>
                  <a:srgbClr val="1A1F28"/>
                </a:solidFill>
                <a:latin typeface="Calibri"/>
              </a:rPr>
              <a:t>Diferença</a:t>
            </a:r>
            <a:r>
              <a:rPr sz="155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1A1F28"/>
                </a:solidFill>
                <a:latin typeface="Calibri"/>
              </a:rPr>
              <a:t>medida</a:t>
            </a:r>
            <a:r>
              <a:rPr sz="1550" b="1" dirty="0">
                <a:solidFill>
                  <a:srgbClr val="1A1F28"/>
                </a:solidFill>
                <a:latin typeface="Calibri"/>
              </a:rPr>
              <a:t>, </a:t>
            </a:r>
            <a:r>
              <a:rPr sz="1550" b="1" dirty="0" err="1">
                <a:solidFill>
                  <a:srgbClr val="1A1F28"/>
                </a:solidFill>
                <a:latin typeface="Calibri"/>
              </a:rPr>
              <a:t>não</a:t>
            </a:r>
            <a:r>
              <a:rPr sz="155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550" b="1" dirty="0" err="1">
                <a:solidFill>
                  <a:srgbClr val="1A1F28"/>
                </a:solidFill>
                <a:latin typeface="Calibri"/>
              </a:rPr>
              <a:t>observada</a:t>
            </a:r>
            <a:endParaRPr sz="155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sz="1350" b="0" dirty="0">
                <a:solidFill>
                  <a:srgbClr val="5A6472"/>
                </a:solidFill>
                <a:latin typeface="Calibri"/>
              </a:rPr>
              <a:t>— Menor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erro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na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tabela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não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é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modelo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melhor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. Diebold-Mariano decide se a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diferença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sobrevive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ao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acaso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550" b="1" dirty="0" err="1">
                <a:solidFill>
                  <a:srgbClr val="1A1F28"/>
                </a:solidFill>
                <a:latin typeface="Calibri"/>
              </a:rPr>
              <a:t>Reprodutibilidade</a:t>
            </a:r>
            <a:r>
              <a:rPr sz="1550" b="1" dirty="0">
                <a:solidFill>
                  <a:srgbClr val="1A1F28"/>
                </a:solidFill>
                <a:latin typeface="Calibri"/>
              </a:rPr>
              <a:t> antes de </a:t>
            </a:r>
            <a:r>
              <a:rPr sz="1550" b="1" dirty="0" err="1">
                <a:solidFill>
                  <a:srgbClr val="1A1F28"/>
                </a:solidFill>
                <a:latin typeface="Calibri"/>
              </a:rPr>
              <a:t>significância</a:t>
            </a:r>
            <a:endParaRPr sz="155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900"/>
              </a:spcBef>
            </a:pPr>
            <a:r>
              <a:rPr sz="1350" b="0" dirty="0">
                <a:solidFill>
                  <a:srgbClr val="5A6472"/>
                </a:solidFill>
                <a:latin typeface="Calibri"/>
              </a:rPr>
              <a:t>— Um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ganho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que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muda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sinal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conforme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o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período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avaliado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não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é um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ganho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pequeno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.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Não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 é um </a:t>
            </a:r>
            <a:r>
              <a:rPr sz="1350" b="0" dirty="0" err="1">
                <a:solidFill>
                  <a:srgbClr val="5A6472"/>
                </a:solidFill>
                <a:latin typeface="Calibri"/>
              </a:rPr>
              <a:t>ganho</a:t>
            </a:r>
            <a:r>
              <a:rPr sz="1350" b="0" dirty="0">
                <a:solidFill>
                  <a:srgbClr val="5A647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 w="12700">
            <a:solidFill>
              <a:srgbClr val="005C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 BASE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série mede — e o que não mede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97832" y="148132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IPG3113N</a:t>
            </a:r>
            <a:r>
              <a:rPr lang="en-US" sz="135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Federal Reserve, relatório G.17. Índice mensal de produção física, jan/1972 a ago/2017, 548 </a:t>
            </a:r>
            <a:r>
              <a:rPr lang="en-US" sz="1350" dirty="0" err="1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</a:t>
            </a:r>
            <a:r>
              <a:rPr lang="en-US" sz="125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Decodificando o nome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85800" y="2542032"/>
          <a:ext cx="5120640" cy="131673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Production — índice de produção industrial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NAICS: grupo “açúcar e produtos de confeitaria”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Seasonally Adjusted — sem ajuste sazonal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85800" y="39319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irmã </a:t>
            </a: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IPG3113S</a:t>
            </a: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mesma série com a sazonalidade removida pelo Fed.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Safra: este arquivo está em base 2012 = 100. O FRED hoje publica em 2017 = 100, revisado e estendido até 2026 — o passado é reescrito a cada revisão.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21284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série para na hierarquia NAICS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6263640" y="2542032"/>
          <a:ext cx="5239512" cy="170078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31-33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Indústria de transformação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Fabricação de alimentos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3113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Açúcar e produtos de confeitaria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— a série para aqui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31131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Fabricação de açúcar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indústria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311313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Açúcar de beterraba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indústria nacional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63640" y="4315968"/>
            <a:ext cx="5239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5800" y="5285232"/>
            <a:ext cx="10817352" cy="107899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960120" y="5394960"/>
            <a:ext cx="10287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N é o alicerce do projeto.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tivesse usado a série S, a sazonalidade já teria sido removida pelo Fed antes de eu começar: não existiria baseline sazonal e não haveria o que prever. O N preserva a sazonalidade — e é ela que este trabalho modela, mede e disputa contra o método simples.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Avaliação de alternativas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3A8DE"/>
                </a:solidFill>
                <a:latin typeface="Calibri"/>
              </a:rPr>
              <a:t>As três decisões que definiram tudo o que veio depois</a:t>
            </a:r>
          </a:p>
        </p:txBody>
      </p:sp>
      <p:pic>
        <p:nvPicPr>
          <p:cNvPr id="8" name="Imagem 7" descr="Nestle Logo and symbol, meaning, history, PNG, brand">
            <a:extLst>
              <a:ext uri="{FF2B5EF4-FFF2-40B4-BE49-F238E27FC236}">
                <a16:creationId xmlns:a16="http://schemas.microsoft.com/office/drawing/2014/main" id="{5E6C6BBA-B78C-9637-EF68-1B4F53B90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29" y="434474"/>
            <a:ext cx="4675066" cy="2629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02 · ALTERNATIVAS CONSIDERADAS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Decisão 1 — previsão direta, não recursiva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184166"/>
              </p:ext>
            </p:extLst>
          </p:nvPr>
        </p:nvGraphicFramePr>
        <p:xfrm>
          <a:off x="685800" y="1691640"/>
          <a:ext cx="10817350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3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Abordagem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Como funciona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 que não / por que sim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1A1F28"/>
                          </a:solidFill>
                          <a:latin typeface="Calibri"/>
                        </a:rPr>
                        <a:t>Recursiva</a:t>
                      </a:r>
                      <a:endParaRPr sz="1400" b="1" dirty="0">
                        <a:solidFill>
                          <a:srgbClr val="1A1F28"/>
                        </a:solidFill>
                        <a:latin typeface="Calibri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Treina 1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modelo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de 1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passo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e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realimenta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a</a:t>
                      </a:r>
                    </a:p>
                    <a:p>
                      <a:r>
                        <a:rPr sz="1350" dirty="0" err="1"/>
                        <a:t>própria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previsão</a:t>
                      </a:r>
                      <a:r>
                        <a:rPr sz="1350" dirty="0"/>
                        <a:t> 12 </a:t>
                      </a:r>
                      <a:r>
                        <a:rPr sz="1350" dirty="0" err="1"/>
                        <a:t>vezes</a:t>
                      </a:r>
                      <a:endParaRPr sz="1350" dirty="0"/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B5342A"/>
                          </a:solidFill>
                          <a:latin typeface="Calibri"/>
                        </a:rPr>
                        <a:t>Erro do </a:t>
                      </a:r>
                      <a:r>
                        <a:rPr sz="1250" b="0" dirty="0" err="1">
                          <a:solidFill>
                            <a:srgbClr val="B5342A"/>
                          </a:solidFill>
                          <a:latin typeface="Calibri"/>
                        </a:rPr>
                        <a:t>passo</a:t>
                      </a:r>
                      <a:r>
                        <a:rPr sz="1250" b="0" dirty="0">
                          <a:solidFill>
                            <a:srgbClr val="B5342A"/>
                          </a:solidFill>
                          <a:latin typeface="Calibri"/>
                        </a:rPr>
                        <a:t> 1 </a:t>
                      </a:r>
                      <a:r>
                        <a:rPr sz="1250" b="0" dirty="0" err="1">
                          <a:solidFill>
                            <a:srgbClr val="B5342A"/>
                          </a:solidFill>
                          <a:latin typeface="Calibri"/>
                        </a:rPr>
                        <a:t>contamina</a:t>
                      </a:r>
                      <a:r>
                        <a:rPr sz="1250" b="0" dirty="0">
                          <a:solidFill>
                            <a:srgbClr val="B5342A"/>
                          </a:solidFill>
                          <a:latin typeface="Calibri"/>
                        </a:rPr>
                        <a:t> o 2, </a:t>
                      </a:r>
                      <a:r>
                        <a:rPr sz="1250" b="0" dirty="0" err="1">
                          <a:solidFill>
                            <a:srgbClr val="B5342A"/>
                          </a:solidFill>
                          <a:latin typeface="Calibri"/>
                        </a:rPr>
                        <a:t>que</a:t>
                      </a:r>
                      <a:r>
                        <a:rPr sz="1250" b="0" dirty="0">
                          <a:solidFill>
                            <a:srgbClr val="B5342A"/>
                          </a:solidFill>
                          <a:latin typeface="Calibri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B5342A"/>
                          </a:solidFill>
                          <a:latin typeface="Calibri"/>
                        </a:rPr>
                        <a:t>contamina</a:t>
                      </a:r>
                      <a:r>
                        <a:rPr sz="1250" b="0" dirty="0">
                          <a:solidFill>
                            <a:srgbClr val="B5342A"/>
                          </a:solidFill>
                          <a:latin typeface="Calibri"/>
                        </a:rPr>
                        <a:t> o 3.</a:t>
                      </a:r>
                    </a:p>
                    <a:p>
                      <a:r>
                        <a:rPr sz="1350" dirty="0" err="1"/>
                        <a:t>Degradação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composta</a:t>
                      </a:r>
                      <a:r>
                        <a:rPr sz="1350" dirty="0"/>
                        <a:t> e </a:t>
                      </a:r>
                      <a:r>
                        <a:rPr sz="1350" dirty="0" err="1"/>
                        <a:t>difícil</a:t>
                      </a:r>
                      <a:r>
                        <a:rPr sz="1350" dirty="0"/>
                        <a:t> de </a:t>
                      </a:r>
                      <a:r>
                        <a:rPr sz="1350" dirty="0" err="1"/>
                        <a:t>quantificar</a:t>
                      </a:r>
                      <a:endParaRPr sz="1350" dirty="0"/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1A1F28"/>
                          </a:solidFill>
                          <a:latin typeface="Calibri"/>
                        </a:rPr>
                        <a:t>Direta</a:t>
                      </a:r>
                      <a:endParaRPr sz="1400" b="1" dirty="0">
                        <a:solidFill>
                          <a:srgbClr val="1A1F28"/>
                        </a:solidFill>
                        <a:latin typeface="Calibri"/>
                      </a:endParaRP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Treina 1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modelo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por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horizonte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.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Nenhum</a:t>
                      </a:r>
                      <a:endParaRPr sz="1350" b="0" dirty="0">
                        <a:solidFill>
                          <a:srgbClr val="1A1F28"/>
                        </a:solidFill>
                        <a:latin typeface="Calibri"/>
                      </a:endParaRPr>
                    </a:p>
                    <a:p>
                      <a:r>
                        <a:rPr sz="1350" dirty="0" err="1"/>
                        <a:t>consome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previsão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como</a:t>
                      </a:r>
                      <a:r>
                        <a:rPr sz="1350" dirty="0"/>
                        <a:t> entrada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2E7D5B"/>
                          </a:solidFill>
                          <a:latin typeface="Calibri"/>
                        </a:rPr>
                        <a:t>Custa 12 </a:t>
                      </a:r>
                      <a:r>
                        <a:rPr sz="1250" b="1" dirty="0" err="1">
                          <a:solidFill>
                            <a:srgbClr val="2E7D5B"/>
                          </a:solidFill>
                          <a:latin typeface="Calibri"/>
                        </a:rPr>
                        <a:t>modelos</a:t>
                      </a:r>
                      <a:r>
                        <a:rPr sz="1250" b="1" dirty="0">
                          <a:solidFill>
                            <a:srgbClr val="2E7D5B"/>
                          </a:solidFill>
                          <a:latin typeface="Calibri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2E7D5B"/>
                          </a:solidFill>
                          <a:latin typeface="Calibri"/>
                        </a:rPr>
                        <a:t>em</a:t>
                      </a:r>
                      <a:r>
                        <a:rPr sz="1250" b="1" dirty="0">
                          <a:solidFill>
                            <a:srgbClr val="2E7D5B"/>
                          </a:solidFill>
                          <a:latin typeface="Calibri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2E7D5B"/>
                          </a:solidFill>
                          <a:latin typeface="Calibri"/>
                        </a:rPr>
                        <a:t>vez</a:t>
                      </a:r>
                      <a:r>
                        <a:rPr sz="1250" b="1" dirty="0">
                          <a:solidFill>
                            <a:srgbClr val="2E7D5B"/>
                          </a:solidFill>
                          <a:latin typeface="Calibri"/>
                        </a:rPr>
                        <a:t> de 1, </a:t>
                      </a:r>
                      <a:r>
                        <a:rPr sz="1350" b="0" dirty="0">
                          <a:solidFill>
                            <a:schemeClr val="tx1"/>
                          </a:solidFill>
                          <a:latin typeface="Calibri"/>
                        </a:rPr>
                        <a:t>mas </a:t>
                      </a:r>
                      <a:r>
                        <a:rPr sz="1350" b="0" dirty="0" err="1">
                          <a:solidFill>
                            <a:schemeClr val="tx1"/>
                          </a:solidFill>
                          <a:latin typeface="Calibri"/>
                        </a:rPr>
                        <a:t>cada</a:t>
                      </a:r>
                      <a:r>
                        <a:rPr sz="1350" b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chemeClr val="tx1"/>
                          </a:solidFill>
                          <a:latin typeface="Calibri"/>
                        </a:rPr>
                        <a:t>previsão</a:t>
                      </a:r>
                      <a:endParaRPr sz="135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r>
                        <a:rPr sz="1350" dirty="0"/>
                        <a:t>é </a:t>
                      </a:r>
                      <a:r>
                        <a:rPr sz="1350" dirty="0" err="1"/>
                        <a:t>honesta</a:t>
                      </a:r>
                      <a:r>
                        <a:rPr sz="1350" dirty="0"/>
                        <a:t> e o </a:t>
                      </a:r>
                      <a:r>
                        <a:rPr sz="1350" dirty="0" err="1"/>
                        <a:t>erro</a:t>
                      </a:r>
                      <a:r>
                        <a:rPr sz="1350" dirty="0"/>
                        <a:t> é </a:t>
                      </a:r>
                      <a:r>
                        <a:rPr sz="1350" dirty="0" err="1"/>
                        <a:t>medido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direto</a:t>
                      </a:r>
                      <a:endParaRPr sz="1350" dirty="0"/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1A1F28"/>
                          </a:solidFill>
                          <a:latin typeface="Calibri"/>
                        </a:rPr>
                        <a:t>Estatística</a:t>
                      </a:r>
                      <a:r>
                        <a:rPr sz="1400" b="1" dirty="0">
                          <a:solidFill>
                            <a:srgbClr val="1A1F28"/>
                          </a:solidFill>
                          <a:latin typeface="Calibri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F28"/>
                          </a:solidFill>
                          <a:latin typeface="Calibri"/>
                        </a:rPr>
                        <a:t>clássica</a:t>
                      </a:r>
                      <a:endParaRPr sz="1400" b="1" dirty="0">
                        <a:solidFill>
                          <a:srgbClr val="1A1F28"/>
                        </a:solidFill>
                        <a:latin typeface="Calibri"/>
                      </a:endParaRPr>
                    </a:p>
                    <a:p>
                      <a:r>
                        <a:rPr sz="1400" b="1" dirty="0"/>
                        <a:t>(SARIMA, ETS)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Modelo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paramétrico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de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série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temporal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dirty="0">
                          <a:solidFill>
                            <a:srgbClr val="5A6472"/>
                          </a:solidFill>
                          <a:latin typeface="Calibri"/>
                        </a:rPr>
                        <a:t>Forte candidata. Ficou de fora por escopo — </a:t>
                      </a:r>
                      <a:r>
                        <a:rPr lang="pt-BR" sz="1350" b="0" dirty="0">
                          <a:solidFill>
                            <a:schemeClr val="tx1"/>
                          </a:solidFill>
                          <a:latin typeface="Calibri"/>
                        </a:rPr>
                        <a:t>está</a:t>
                      </a:r>
                    </a:p>
                    <a:p>
                      <a:r>
                        <a:rPr lang="pt-BR" sz="1354" dirty="0"/>
                        <a:t>nos próximos passos, não descartada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617720"/>
            <a:ext cx="1081735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4617720"/>
            <a:ext cx="38100" cy="141732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80060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4226"/>
                </a:solidFill>
                <a:latin typeface="Calibri"/>
              </a:rPr>
              <a:t>A consequência que explica todos os resultados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38928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F28"/>
                </a:solidFill>
                <a:latin typeface="Calibri"/>
              </a:rPr>
              <a:t>Na previsão direta, para prever t+h só é legítimo usar defasagens k ≥ h. Usar o mês passado para prever 12 meses à frente seria assumir conhecer 11 meses do futuro. Essa regra está imposta em código — pedir uma defasagem ilegal levanta exceção.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02 ·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Decisões 2 e 3 — o que entra no modelo, e para quem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5CA9"/>
                </a:solidFill>
                <a:latin typeface="Calibri"/>
              </a:rPr>
              <a:t>Decisão 2 · variáveis externas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120640" cy="2326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1" dirty="0" err="1">
                <a:solidFill>
                  <a:srgbClr val="1A1F28"/>
                </a:solidFill>
                <a:latin typeface="Calibri"/>
              </a:rPr>
              <a:t>Testadas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: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calendário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e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preço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do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açúcar</a:t>
            </a:r>
            <a:endParaRPr sz="130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Páscoa,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feriados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dias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úteis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—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calculados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offline,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sem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depender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de API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Preços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FRED No. 11 (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mundial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) e No. 16 (EUA)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 b="1" dirty="0" err="1">
                <a:solidFill>
                  <a:srgbClr val="1A1F28"/>
                </a:solidFill>
                <a:latin typeface="Calibri"/>
              </a:rPr>
              <a:t>Resultado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: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nenhuma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entrou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no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modelo</a:t>
            </a:r>
            <a:endParaRPr sz="130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Remover as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exógenas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calendário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melhorou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h=1 e h=3; a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ablação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está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versionada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e é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reproduzível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num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comando</a:t>
            </a:r>
            <a:endParaRPr sz="1100" b="0" dirty="0">
              <a:solidFill>
                <a:srgbClr val="5A6472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O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preço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do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açúcar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cobre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só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1992+ e, </a:t>
            </a:r>
            <a:r>
              <a:rPr lang="pt-BR" sz="1100" dirty="0">
                <a:solidFill>
                  <a:srgbClr val="5A6472"/>
                </a:solidFill>
                <a:latin typeface="Calibri"/>
              </a:rPr>
              <a:t>i</a:t>
            </a:r>
            <a:r>
              <a:rPr lang="pt-BR" sz="1100" b="0" dirty="0">
                <a:solidFill>
                  <a:srgbClr val="5A6472"/>
                </a:solidFill>
                <a:latin typeface="Calibri"/>
              </a:rPr>
              <a:t>ncluí-lo cortaria a janela máxima de avaliação de 273 para 44 meses</a:t>
            </a:r>
            <a:endParaRPr sz="1100" b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5CA9"/>
                </a:solidFill>
                <a:latin typeface="Calibri"/>
              </a:rPr>
              <a:t>Decisão 3 · um horizonte ou vários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300" b="1" dirty="0" err="1">
                <a:solidFill>
                  <a:srgbClr val="1A1F28"/>
                </a:solidFill>
                <a:latin typeface="Calibri"/>
              </a:rPr>
              <a:t>Avaliar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h = 1, 3 e 12 —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não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só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o de 12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h=1 é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ajuste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operacional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: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programação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da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semana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seguinte</a:t>
            </a:r>
            <a:endParaRPr sz="1100" b="0" dirty="0">
              <a:solidFill>
                <a:srgbClr val="5A6472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h=12 é o plano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anual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: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capacidade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contrato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insumo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orçamento</a:t>
            </a:r>
            <a:endParaRPr sz="1100" b="0" dirty="0">
              <a:solidFill>
                <a:srgbClr val="5A6472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 b="1" dirty="0">
                <a:solidFill>
                  <a:srgbClr val="1A1F28"/>
                </a:solidFill>
                <a:latin typeface="Calibri"/>
              </a:rPr>
              <a:t>São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produtos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diferentes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, com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donos</a:t>
            </a:r>
            <a:r>
              <a:rPr sz="130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A1F28"/>
                </a:solidFill>
                <a:latin typeface="Calibri"/>
              </a:rPr>
              <a:t>diferentes</a:t>
            </a:r>
            <a:endParaRPr sz="130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A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informação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disponível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muda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com o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horizonte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então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nada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obriga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o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mesmo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vencedor</a:t>
            </a:r>
            <a:endParaRPr sz="1100" b="0" dirty="0">
              <a:solidFill>
                <a:srgbClr val="5A6472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100" b="0" dirty="0">
                <a:solidFill>
                  <a:srgbClr val="5A6472"/>
                </a:solidFill>
                <a:latin typeface="Calibri"/>
              </a:rPr>
              <a:t>— Foi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essa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escolha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revelou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a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resposta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certa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é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diferente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em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A6472"/>
                </a:solidFill>
                <a:latin typeface="Calibri"/>
              </a:rPr>
              <a:t>cada</a:t>
            </a:r>
            <a:r>
              <a:rPr sz="1100" b="0" dirty="0">
                <a:solidFill>
                  <a:srgbClr val="5A6472"/>
                </a:solidFill>
                <a:latin typeface="Calibri"/>
              </a:rPr>
              <a:t> 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074920"/>
            <a:ext cx="10817352" cy="96012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O trade-off que assumi: menos tempo em busca de algoritmo, mais tempo em protocolo de validação. Uma escolha errada de modelo custa décimos de ponto; um protocolo errado custa a decisão inteira.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Desenvolvimento da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3A8DE"/>
                </a:solidFill>
                <a:latin typeface="Calibri"/>
              </a:rPr>
              <a:t>O que os dados disseram, o que eu construí, e o bug que quase passou</a:t>
            </a:r>
          </a:p>
        </p:txBody>
      </p:sp>
      <p:pic>
        <p:nvPicPr>
          <p:cNvPr id="8" name="Imagem 7" descr="Nestle Logo and symbol, meaning, history, PNG, brand">
            <a:extLst>
              <a:ext uri="{FF2B5EF4-FFF2-40B4-BE49-F238E27FC236}">
                <a16:creationId xmlns:a16="http://schemas.microsoft.com/office/drawing/2014/main" id="{C9B8A146-44BF-07F4-B0C6-2D5BA33F0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29" y="434474"/>
            <a:ext cx="4675066" cy="2629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03 · EXPLORAÇÃO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A série é dominada por uma coisa só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_perfil_saz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5943600" cy="22642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737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5CA9"/>
                </a:solidFill>
                <a:latin typeface="Georgia"/>
              </a:rPr>
              <a:t>89,3%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783080"/>
            <a:ext cx="3017520" cy="428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5A6472"/>
                </a:solidFill>
                <a:latin typeface="Calibri"/>
              </a:rPr>
              <a:t>da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variância</a:t>
            </a:r>
            <a:r>
              <a:rPr lang="pt-BR" sz="1200" b="0" i="0" dirty="0">
                <a:solidFill>
                  <a:srgbClr val="5A6472"/>
                </a:solidFill>
                <a:latin typeface="Calibri"/>
              </a:rPr>
              <a:t> (não tendencial)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explicada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
pela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sazonalidade</a:t>
            </a:r>
            <a:endParaRPr sz="120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0" y="28346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5CA9"/>
                </a:solidFill>
                <a:latin typeface="Georgia"/>
              </a:rPr>
              <a:t>+20,0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88036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pontos em nov
(o pico do ano)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9319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5CA9"/>
                </a:solidFill>
                <a:latin typeface="Georgia"/>
              </a:rPr>
              <a:t>−12,2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9776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pontos em abr
(o vale do ano)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0292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>
                <a:solidFill>
                  <a:srgbClr val="005CA9"/>
                </a:solidFill>
                <a:latin typeface="Georgia"/>
              </a:rPr>
              <a:t>79,2%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0749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5A6472"/>
                </a:solidFill>
                <a:latin typeface="Calibri"/>
              </a:rPr>
              <a:t>das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anomalias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caem</a:t>
            </a:r>
            <a:r>
              <a:rPr sz="1200" b="0" i="0" dirty="0">
                <a:solidFill>
                  <a:srgbClr val="5A6472"/>
                </a:solidFill>
                <a:latin typeface="Calibri"/>
              </a:rPr>
              <a:t>
entre set e </a:t>
            </a:r>
            <a:r>
              <a:rPr sz="1200" b="0" i="0" dirty="0" err="1">
                <a:solidFill>
                  <a:srgbClr val="5A6472"/>
                </a:solidFill>
                <a:latin typeface="Calibri"/>
              </a:rPr>
              <a:t>dez</a:t>
            </a:r>
            <a:endParaRPr sz="120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66560" y="5806440"/>
            <a:ext cx="4754880" cy="685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59436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6B4226"/>
                </a:solidFill>
                <a:latin typeface="Calibri"/>
              </a:rPr>
              <a:t>Consequência: o baseline sazonal não é um espantalho. É um adversário forte.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 w="12700">
            <a:solidFill>
              <a:srgbClr val="005C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MODELOS (src/models/registry.py)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oito modelos — e por que cada um está na lista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005840" cy="36576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316736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baselines, um linear, três de árvore, dois opcionais — todos no mesmo backtest, nas mesmas datas, com o mesmo embargo. A progressão vai do trivial ao não linear, e cada degrau precisa justificar o anterior.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85800" y="1773936"/>
          <a:ext cx="10716208" cy="3803904"/>
        </p:xfrm>
        <a:graphic>
          <a:graphicData uri="http://schemas.openxmlformats.org/drawingml/2006/table">
            <a:tbl>
              <a:tblPr/>
              <a:tblGrid>
                <a:gridCol w="969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está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seasonal_naive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zero parâmetro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piso do problema: prevê y[t−12], o mesmo mês do ano anterior. É contra ele que todo o resto é medido.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seasonal_naive_drift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damping=0,5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controle: “e se o naive fosse mais esperto?” — lag_12 + 0,5 × (lag_12 − lag_24), tendência recente amortecida.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ridge_fourier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Scaler → Ridge(α=1,0)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Regularizado sobre Fourier: o único que extrapola tendência — ajuda em período calmo, machuca na quebra de regime. É o mecanismo exato da fragilidade dele.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random_forest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 árvores, prof. livre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sem boosting. Serve de contraste: mede quanto o boosting acrescenta sobre a média de árvores.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gradient_boosting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n=400 · lr 0,05 · prof 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clássico do sklearn. É o modelo do bloco 2 da auditoria — o que expôs o protocolo antigo.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hist_gradient_boosting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n=400 · lr 0,05 · prof 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por histograma — o mesmo algoritmo do LightGBM, nativo do sklearn e muito mais rápido.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xgboost · lightgbm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mesmos hiperparâmetros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tolerante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eles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 pipeline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profundidade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taxa e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semente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dos boosters do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a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 </a:t>
                      </a:r>
                      <a:r>
                        <a:rPr lang="en-US" sz="950" dirty="0" err="1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</a:t>
                      </a: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960120" y="5650992"/>
            <a:ext cx="10287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 é deliberado: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~500 linhas, árvore profunda decora — profundidade baixa é regularização.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hiperparâmetro foi ajustado: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ou escolhas justificadas, declarado como limitação. E a exposição foi medida: varrendo o α do Ridge de 0,01 a 1,0, o MAPE em h=12 varia 0,01 p.p. — platô. O viés vem da escolha de família, não do ajuste fino.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005CA9"/>
                </a:solidFill>
                <a:latin typeface="Calibri"/>
              </a:rPr>
              <a:t>03 · O QUE NÃO ENTROU, E POR QUÊ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4385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 dirty="0">
                <a:solidFill>
                  <a:srgbClr val="0A2240"/>
                </a:solidFill>
                <a:latin typeface="Georgia"/>
              </a:rPr>
              <a:t>Duas </a:t>
            </a:r>
            <a:r>
              <a:rPr sz="2700" b="1" i="0" dirty="0" err="1">
                <a:solidFill>
                  <a:srgbClr val="0A2240"/>
                </a:solidFill>
                <a:latin typeface="Georgia"/>
              </a:rPr>
              <a:t>hipóteses</a:t>
            </a:r>
            <a:r>
              <a:rPr sz="2700" b="1" i="0" dirty="0">
                <a:solidFill>
                  <a:srgbClr val="0A2240"/>
                </a:solidFill>
                <a:latin typeface="Georgia"/>
              </a:rPr>
              <a:t> </a:t>
            </a:r>
            <a:r>
              <a:rPr sz="2700" b="1" i="0" dirty="0" err="1">
                <a:solidFill>
                  <a:srgbClr val="0A2240"/>
                </a:solidFill>
                <a:latin typeface="Georgia"/>
              </a:rPr>
              <a:t>testadas</a:t>
            </a:r>
            <a:r>
              <a:rPr sz="2700" b="1" i="0" dirty="0">
                <a:solidFill>
                  <a:srgbClr val="0A2240"/>
                </a:solidFill>
                <a:latin typeface="Georgia"/>
              </a:rPr>
              <a:t> — e </a:t>
            </a:r>
            <a:r>
              <a:rPr lang="pt-BR" sz="2700" b="1" i="0" dirty="0">
                <a:solidFill>
                  <a:srgbClr val="0A2240"/>
                </a:solidFill>
                <a:latin typeface="Georgia"/>
              </a:rPr>
              <a:t>não sustentadas pelos dados</a:t>
            </a:r>
            <a:endParaRPr sz="2700" b="1" i="0" dirty="0">
              <a:solidFill>
                <a:srgbClr val="0A2240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59208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 dirty="0" err="1">
                <a:solidFill>
                  <a:srgbClr val="0A2240"/>
                </a:solidFill>
                <a:latin typeface="Calibri"/>
              </a:rPr>
              <a:t>Hipótese</a:t>
            </a:r>
            <a:r>
              <a:rPr sz="1450" b="1" i="0" dirty="0">
                <a:solidFill>
                  <a:srgbClr val="0A2240"/>
                </a:solidFill>
                <a:latin typeface="Calibri"/>
              </a:rPr>
              <a:t> 1 · a Páscoa </a:t>
            </a:r>
            <a:r>
              <a:rPr sz="1450" b="1" i="0" dirty="0" err="1">
                <a:solidFill>
                  <a:srgbClr val="0A2240"/>
                </a:solidFill>
                <a:latin typeface="Calibri"/>
              </a:rPr>
              <a:t>desloca</a:t>
            </a:r>
            <a:r>
              <a:rPr sz="1450" b="1" i="0" dirty="0">
                <a:solidFill>
                  <a:srgbClr val="0A2240"/>
                </a:solidFill>
                <a:latin typeface="Calibri"/>
              </a:rPr>
              <a:t> a </a:t>
            </a:r>
            <a:r>
              <a:rPr sz="1450" b="1" i="0" dirty="0" err="1">
                <a:solidFill>
                  <a:srgbClr val="0A2240"/>
                </a:solidFill>
                <a:latin typeface="Calibri"/>
              </a:rPr>
              <a:t>produção</a:t>
            </a:r>
            <a:endParaRPr sz="1450" b="1" i="0" dirty="0">
              <a:solidFill>
                <a:srgbClr val="0A224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0948" y="1836352"/>
            <a:ext cx="6131293" cy="1645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0" dirty="0">
                <a:solidFill>
                  <a:srgbClr val="1A1F28"/>
                </a:solidFill>
                <a:latin typeface="Calibri"/>
              </a:rPr>
              <a:t>A Páscoa varia 31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dias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no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calendário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. Se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ela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puxa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produção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, meses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vizinhos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deveriam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mudar junto.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 dirty="0">
                <a:solidFill>
                  <a:srgbClr val="1A1F28"/>
                </a:solidFill>
                <a:latin typeface="Calibri"/>
              </a:rPr>
              <a:t>Welch</a:t>
            </a:r>
            <a:r>
              <a:rPr lang="pt-BR" sz="1250" b="1" dirty="0">
                <a:solidFill>
                  <a:srgbClr val="1A1F28"/>
                </a:solidFill>
                <a:latin typeface="Calibri"/>
              </a:rPr>
              <a:t>*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: p = 0,76 · 0,89 · 0,23. </a:t>
            </a:r>
            <a:r>
              <a:rPr sz="1250" b="1" dirty="0" err="1">
                <a:solidFill>
                  <a:srgbClr val="1A1F28"/>
                </a:solidFill>
                <a:latin typeface="Calibri"/>
              </a:rPr>
              <a:t>Regressão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 contra o </a:t>
            </a:r>
            <a:r>
              <a:rPr sz="1250" b="1" dirty="0" err="1">
                <a:solidFill>
                  <a:srgbClr val="1A1F28"/>
                </a:solidFill>
                <a:latin typeface="Calibri"/>
              </a:rPr>
              <a:t>dia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1A1F28"/>
                </a:solidFill>
                <a:latin typeface="Calibri"/>
              </a:rPr>
              <a:t>exato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: R² = 0,002</a:t>
            </a:r>
            <a:r>
              <a:rPr lang="pt-BR" sz="1250" b="1" dirty="0">
                <a:solidFill>
                  <a:srgbClr val="1A1F28"/>
                </a:solidFill>
              </a:rPr>
              <a:t> · 0,001 · 0,0007</a:t>
            </a:r>
            <a:endParaRPr sz="125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 dirty="0">
                <a:solidFill>
                  <a:srgbClr val="5A6472"/>
                </a:solidFill>
                <a:latin typeface="Calibri"/>
              </a:rPr>
              <a:t>— E o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fato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que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fecha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: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abril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é o vale do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ano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, e a Páscoa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cai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em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abril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em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35 dos 46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anos</a:t>
            </a:r>
            <a:endParaRPr lang="pt-BR" sz="1050" dirty="0">
              <a:solidFill>
                <a:srgbClr val="5A6472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pt-BR" sz="1050" dirty="0">
                <a:solidFill>
                  <a:srgbClr val="5A6472"/>
                </a:solidFill>
              </a:rPr>
              <a:t>*Se a Páscoa não tivesse efeito nenhum, qual a chance de eu ver uma diferença deste tamanho só por sorteio dos anos?</a:t>
            </a:r>
            <a:endParaRPr sz="1050" b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446622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 dirty="0" err="1">
                <a:solidFill>
                  <a:srgbClr val="0A2240"/>
                </a:solidFill>
                <a:latin typeface="Calibri"/>
              </a:rPr>
              <a:t>Hipótese</a:t>
            </a:r>
            <a:r>
              <a:rPr sz="1450" b="1" i="0" dirty="0">
                <a:solidFill>
                  <a:srgbClr val="0A2240"/>
                </a:solidFill>
                <a:latin typeface="Calibri"/>
              </a:rPr>
              <a:t> 2 · o </a:t>
            </a:r>
            <a:r>
              <a:rPr sz="1450" b="1" i="0" dirty="0" err="1">
                <a:solidFill>
                  <a:srgbClr val="0A2240"/>
                </a:solidFill>
                <a:latin typeface="Calibri"/>
              </a:rPr>
              <a:t>programa</a:t>
            </a:r>
            <a:r>
              <a:rPr sz="1450" b="1" i="0" dirty="0">
                <a:solidFill>
                  <a:srgbClr val="0A2240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0A2240"/>
                </a:solidFill>
                <a:latin typeface="Calibri"/>
              </a:rPr>
              <a:t>açucareiro</a:t>
            </a:r>
            <a:r>
              <a:rPr sz="1450" b="1" i="0" dirty="0">
                <a:solidFill>
                  <a:srgbClr val="0A2240"/>
                </a:solidFill>
                <a:latin typeface="Calibri"/>
              </a:rPr>
              <a:t> americano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45665"/>
            <a:ext cx="5029200" cy="1323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0" dirty="0">
                <a:solidFill>
                  <a:srgbClr val="1A1F28"/>
                </a:solidFill>
                <a:latin typeface="Calibri"/>
              </a:rPr>
              <a:t>O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açúcar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doméstico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caro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teria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empurrado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a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fabricação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de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doce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 para fora do </a:t>
            </a:r>
            <a:r>
              <a:rPr sz="1250" b="0" dirty="0" err="1">
                <a:solidFill>
                  <a:srgbClr val="1A1F28"/>
                </a:solidFill>
                <a:latin typeface="Calibri"/>
              </a:rPr>
              <a:t>país</a:t>
            </a:r>
            <a:r>
              <a:rPr sz="1250" b="0" dirty="0">
                <a:solidFill>
                  <a:srgbClr val="1A1F28"/>
                </a:solidFill>
                <a:latin typeface="Calibri"/>
              </a:rPr>
              <a:t>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 dirty="0" err="1">
                <a:solidFill>
                  <a:srgbClr val="1A1F28"/>
                </a:solidFill>
                <a:latin typeface="Calibri"/>
              </a:rPr>
              <a:t>Prêmio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 EUA vs </a:t>
            </a:r>
            <a:r>
              <a:rPr sz="1250" b="1" dirty="0" err="1">
                <a:solidFill>
                  <a:srgbClr val="1A1F28"/>
                </a:solidFill>
                <a:latin typeface="Calibri"/>
              </a:rPr>
              <a:t>produção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: r = </a:t>
            </a:r>
            <a:r>
              <a:rPr lang="pt-BR" sz="1250" b="1" dirty="0">
                <a:solidFill>
                  <a:schemeClr val="accent1"/>
                </a:solidFill>
                <a:latin typeface="Calibri"/>
              </a:rPr>
              <a:t>+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0,59 — o </a:t>
            </a:r>
            <a:r>
              <a:rPr sz="1250" b="1" dirty="0" err="1">
                <a:solidFill>
                  <a:srgbClr val="1A1F28"/>
                </a:solidFill>
                <a:latin typeface="Calibri"/>
              </a:rPr>
              <a:t>oposto</a:t>
            </a:r>
            <a:r>
              <a:rPr sz="1250" b="1" dirty="0">
                <a:solidFill>
                  <a:srgbClr val="1A1F28"/>
                </a:solidFill>
                <a:latin typeface="Calibri"/>
              </a:rPr>
              <a:t> do </a:t>
            </a:r>
            <a:r>
              <a:rPr sz="1250" b="1" dirty="0" err="1">
                <a:solidFill>
                  <a:srgbClr val="1A1F28"/>
                </a:solidFill>
                <a:latin typeface="Calibri"/>
              </a:rPr>
              <a:t>previsto</a:t>
            </a:r>
            <a:endParaRPr sz="1250" b="1" dirty="0">
              <a:solidFill>
                <a:srgbClr val="1A1F28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 dirty="0">
                <a:solidFill>
                  <a:srgbClr val="5A6472"/>
                </a:solidFill>
                <a:latin typeface="Calibri"/>
              </a:rPr>
              <a:t>— Quem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correlaciona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é o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preço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mundial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(r = </a:t>
            </a:r>
            <a:r>
              <a:rPr sz="1050" b="0" dirty="0">
                <a:solidFill>
                  <a:srgbClr val="FF0000"/>
                </a:solidFill>
                <a:latin typeface="Calibri"/>
              </a:rPr>
              <a:t>−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0,68):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choque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de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custo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global,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não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política</a:t>
            </a:r>
            <a:r>
              <a:rPr sz="1050" b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472"/>
                </a:solidFill>
                <a:latin typeface="Calibri"/>
              </a:rPr>
              <a:t>doméstica</a:t>
            </a:r>
            <a:endParaRPr sz="1050" b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3543300"/>
            <a:ext cx="10817352" cy="1143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241280" cy="537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 dirty="0">
                <a:solidFill>
                  <a:srgbClr val="FFFFFF"/>
                </a:solidFill>
                <a:latin typeface="Calibri"/>
              </a:rPr>
              <a:t>Por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mostrar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resultado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negativo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para a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gestão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hipótese</a:t>
            </a:r>
            <a:r>
              <a:rPr lang="pt-BR" sz="1450" dirty="0">
                <a:solidFill>
                  <a:srgbClr val="FFFFFF"/>
                </a:solidFill>
                <a:latin typeface="Calibri"/>
              </a:rPr>
              <a:t> não sustentada pelos dados 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é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uma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variável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vai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produção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, um pipeline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precisa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ser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mantido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e um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custo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será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pago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Descartar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com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evidência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é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entrega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FFFFF"/>
                </a:solidFill>
                <a:latin typeface="Calibri"/>
              </a:rPr>
              <a:t>ausência</a:t>
            </a:r>
            <a:r>
              <a:rPr sz="1450" b="0" i="0" dirty="0">
                <a:solidFill>
                  <a:srgbClr val="FFFFFF"/>
                </a:solidFill>
                <a:latin typeface="Calibri"/>
              </a:rPr>
              <a:t> dela.</a:t>
            </a:r>
          </a:p>
        </p:txBody>
      </p:sp>
      <p:pic>
        <p:nvPicPr>
          <p:cNvPr id="12" name="Picture 11" descr="05_teste_pasco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04079"/>
            <a:ext cx="4823534" cy="1625321"/>
          </a:xfrm>
          <a:prstGeom prst="rect">
            <a:avLst/>
          </a:prstGeom>
        </p:spPr>
      </p:pic>
      <p:pic>
        <p:nvPicPr>
          <p:cNvPr id="13" name="Picture 12" descr="09_precos_acu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1" y="4808270"/>
            <a:ext cx="4823534" cy="18211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03 · A DECISÃO DE MAIOR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Por que 12 meses é um problema diferente de 1 mês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A6472"/>
                </a:solidFill>
                <a:latin typeface="Calibri"/>
              </a:rPr>
              <a:t>A regra da defasagem legal tem uma consequência mecânica: quanto mais longe o horizonte, menos informação sobra.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542592"/>
              </p:ext>
            </p:extLst>
          </p:nvPr>
        </p:nvGraphicFramePr>
        <p:xfrm>
          <a:off x="685800" y="2377440"/>
          <a:ext cx="10817350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6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Horizonte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Colunas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Defasagens legais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 que o modelo enxerga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h = 1  · operacional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1, 2, 3, 6, 12, 13, 24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O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mês</a:t>
                      </a:r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que</a:t>
                      </a:r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acabou</a:t>
                      </a:r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 de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fechar</a:t>
                      </a:r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.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Há</a:t>
                      </a:r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sinal</a:t>
                      </a:r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recente</a:t>
                      </a:r>
                      <a:r>
                        <a:rPr sz="1350" b="0" dirty="0">
                          <a:solidFill>
                            <a:srgbClr val="2E7D5B"/>
                          </a:solidFill>
                          <a:latin typeface="Calibri"/>
                        </a:rPr>
                        <a:t> para </a:t>
                      </a:r>
                      <a:r>
                        <a:rPr sz="1350" b="0" dirty="0" err="1">
                          <a:solidFill>
                            <a:srgbClr val="2E7D5B"/>
                          </a:solidFill>
                          <a:latin typeface="Calibri"/>
                        </a:rPr>
                        <a:t>explorar</a:t>
                      </a:r>
                      <a:endParaRPr sz="1350" b="0" dirty="0">
                        <a:solidFill>
                          <a:srgbClr val="2E7D5B"/>
                        </a:solidFill>
                        <a:latin typeface="Calibri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h = 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F28"/>
                          </a:solidFill>
                          <a:latin typeface="Calibri"/>
                        </a:rPr>
                        <a:t>3, 6, 12, 13, 24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Perde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o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nível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recente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,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mantém</a:t>
                      </a:r>
                      <a:r>
                        <a:rPr sz="1350" b="0" dirty="0">
                          <a:solidFill>
                            <a:srgbClr val="1A1F28"/>
                          </a:solidFill>
                          <a:latin typeface="Calibri"/>
                        </a:rPr>
                        <a:t> o </a:t>
                      </a:r>
                      <a:r>
                        <a:rPr sz="135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trimestre</a:t>
                      </a:r>
                      <a:endParaRPr sz="1350" b="0" dirty="0">
                        <a:solidFill>
                          <a:srgbClr val="1A1F28"/>
                        </a:solidFill>
                        <a:latin typeface="Calibri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h = 12  · S&amp;OP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12, 13, 24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B5342A"/>
                          </a:solidFill>
                          <a:latin typeface="Calibri"/>
                        </a:rPr>
                        <a:t>Só o eco </a:t>
                      </a:r>
                      <a:r>
                        <a:rPr sz="1350" b="0" dirty="0" err="1">
                          <a:solidFill>
                            <a:srgbClr val="B5342A"/>
                          </a:solidFill>
                          <a:latin typeface="Calibri"/>
                        </a:rPr>
                        <a:t>sazonal</a:t>
                      </a:r>
                      <a:r>
                        <a:rPr sz="1350" b="0" dirty="0">
                          <a:solidFill>
                            <a:srgbClr val="B5342A"/>
                          </a:solidFill>
                          <a:latin typeface="Calibri"/>
                        </a:rPr>
                        <a:t> — </a:t>
                      </a:r>
                      <a:r>
                        <a:rPr sz="1350" b="0" dirty="0" err="1">
                          <a:solidFill>
                            <a:schemeClr val="tx1"/>
                          </a:solidFill>
                          <a:latin typeface="Calibri"/>
                        </a:rPr>
                        <a:t>que</a:t>
                      </a:r>
                      <a:r>
                        <a:rPr sz="1350" b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sz="1350" b="0" dirty="0" err="1">
                          <a:solidFill>
                            <a:schemeClr val="tx1"/>
                          </a:solidFill>
                          <a:latin typeface="Calibri"/>
                        </a:rPr>
                        <a:t>correlaciona</a:t>
                      </a:r>
                      <a:r>
                        <a:rPr sz="1350" b="0" dirty="0">
                          <a:solidFill>
                            <a:schemeClr val="tx1"/>
                          </a:solidFill>
                          <a:latin typeface="Calibri"/>
                        </a:rPr>
                        <a:t> 0,93 entre </a:t>
                      </a:r>
                      <a:r>
                        <a:rPr sz="1350" b="0" dirty="0" err="1">
                          <a:solidFill>
                            <a:schemeClr val="tx1"/>
                          </a:solidFill>
                          <a:latin typeface="Calibri"/>
                        </a:rPr>
                        <a:t>si</a:t>
                      </a:r>
                      <a:endParaRPr sz="135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  <a:p>
                      <a:r>
                        <a:rPr sz="1350" dirty="0"/>
                        <a:t>e é o </a:t>
                      </a:r>
                      <a:r>
                        <a:rPr sz="1350" dirty="0" err="1"/>
                        <a:t>mesmo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sinal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que</a:t>
                      </a:r>
                      <a:r>
                        <a:rPr sz="1350" dirty="0"/>
                        <a:t> o baseline </a:t>
                      </a:r>
                      <a:r>
                        <a:rPr sz="1350" dirty="0" err="1"/>
                        <a:t>já</a:t>
                      </a:r>
                      <a:r>
                        <a:rPr sz="1350" dirty="0"/>
                        <a:t> </a:t>
                      </a:r>
                      <a:r>
                        <a:rPr sz="1350" dirty="0" err="1"/>
                        <a:t>usa</a:t>
                      </a:r>
                      <a:endParaRPr sz="1350" dirty="0"/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892040"/>
            <a:ext cx="10817352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4892040"/>
            <a:ext cx="38100" cy="118872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07492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F28"/>
                </a:solidFill>
                <a:latin typeface="Calibri"/>
              </a:rPr>
              <a:t>Guarde esta linha: em 12 meses, o modelo e o método simples estão olhando para a mesma informação. É por isso que a vantagem colapsa — não é limitação do algoritmo, é limitação do que existe para saber.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03 · O ACHADO DE ENGENHARIA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O bug que inflava o resultado — e a auditoria que o pegou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486400" cy="8760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 dirty="0">
                <a:solidFill>
                  <a:srgbClr val="1A1F28"/>
                </a:solidFill>
                <a:latin typeface="Calibri"/>
              </a:rPr>
              <a:t>Uma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versão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anterior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reportava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3,36% de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erro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em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h=12</a:t>
            </a:r>
            <a:r>
              <a:rPr lang="pt-BR" sz="1500" b="0" i="0" dirty="0">
                <a:solidFill>
                  <a:srgbClr val="1A1F28"/>
                </a:solidFill>
                <a:latin typeface="Calibri"/>
              </a:rPr>
              <a:t> (mas para o gradiente boost)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. O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número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era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falso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: o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backtest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treinava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com meses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que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, no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momento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da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previsão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ainda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não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tinham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1F28"/>
                </a:solidFill>
                <a:latin typeface="Calibri"/>
              </a:rPr>
              <a:t>acontecido</a:t>
            </a:r>
            <a:r>
              <a:rPr sz="1500" b="0" i="0" dirty="0">
                <a:solidFill>
                  <a:srgbClr val="1A1F28"/>
                </a:solidFill>
                <a:latin typeface="Calibri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880360"/>
          <a:ext cx="5486398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Configuração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A · protocolo antigo (com vazamento)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3,36%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5342A"/>
                          </a:solidFill>
                          <a:latin typeface="Calibri"/>
                        </a:rPr>
                        <a:t>otimista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F28"/>
                          </a:solidFill>
                          <a:latin typeface="Calibri"/>
                        </a:rPr>
                        <a:t>B · embargo correto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F28"/>
                          </a:solidFill>
                          <a:latin typeface="Calibri"/>
                        </a:rPr>
                        <a:t>6,13%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honesto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C · controle: −11 linhas aleatórias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3,18%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quase não muda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D · controle: −11 linhas mais antigas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3,33%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F28"/>
                          </a:solidFill>
                          <a:latin typeface="Calibri"/>
                        </a:rPr>
                        <a:t>quase não muda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84632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472"/>
                </a:solidFill>
                <a:latin typeface="Calibri"/>
              </a:rPr>
              <a:t>Os controles C e D removem a mesma quantidade de linhas, de posições diferentes. Se o ganho fosse por volume de dados, doeriam igual. Doem 0,1 ponto. A causa é a recência — demonstrado, não argumentado.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691640"/>
            <a:ext cx="4983480" cy="196596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19202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3A8DE"/>
                </a:solidFill>
                <a:latin typeface="Calibri"/>
              </a:rPr>
              <a:t>TRADUÇÃO PARA GESTÃO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28600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O modelo estava “colando na prova”: durante o teste ele enxergava meses que, na vida real, ainda não teriam acontecido. O resultado parecia ótimo e teria decepcionado em produção.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931920"/>
            <a:ext cx="49834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O que ficou no repositório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A correção está em código, não em disciplina do analista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Testes de regressão travam o comportamento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Um script de auditoria reproduz as 4 verificações do zero e imprime PASSOU/FALHOU — ninguém precisa confiar na documentação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3A8DE"/>
                </a:solidFill>
                <a:latin typeface="Calibri"/>
              </a:rPr>
              <a:t>Onde o modelo se paga, onde não se paga, e o teste que mudou a resposta</a:t>
            </a:r>
          </a:p>
        </p:txBody>
      </p:sp>
      <p:pic>
        <p:nvPicPr>
          <p:cNvPr id="8" name="Imagem 7" descr="Nestle Logo and symbol, meaning, history, PNG, brand">
            <a:extLst>
              <a:ext uri="{FF2B5EF4-FFF2-40B4-BE49-F238E27FC236}">
                <a16:creationId xmlns:a16="http://schemas.microsoft.com/office/drawing/2014/main" id="{1F617FBD-4B60-A88B-DB4C-D1F1F7DED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29" y="434474"/>
            <a:ext cx="4675066" cy="26297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04 · MÉTRICAS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 dirty="0" err="1">
                <a:solidFill>
                  <a:srgbClr val="0A2240"/>
                </a:solidFill>
                <a:latin typeface="Georgia"/>
              </a:rPr>
              <a:t>Oito</a:t>
            </a:r>
            <a:r>
              <a:rPr sz="2700" b="1" i="0" dirty="0">
                <a:solidFill>
                  <a:srgbClr val="0A2240"/>
                </a:solidFill>
                <a:latin typeface="Georgia"/>
              </a:rPr>
              <a:t> </a:t>
            </a:r>
            <a:r>
              <a:rPr sz="2700" b="1" i="0" dirty="0" err="1">
                <a:solidFill>
                  <a:srgbClr val="0A2240"/>
                </a:solidFill>
                <a:latin typeface="Georgia"/>
              </a:rPr>
              <a:t>modelos</a:t>
            </a:r>
            <a:r>
              <a:rPr sz="2700" b="1" i="0" dirty="0">
                <a:solidFill>
                  <a:srgbClr val="0A2240"/>
                </a:solidFill>
                <a:latin typeface="Georgia"/>
              </a:rPr>
              <a:t>, </a:t>
            </a:r>
            <a:r>
              <a:rPr sz="2700" b="1" i="0" dirty="0" err="1">
                <a:solidFill>
                  <a:srgbClr val="0A2240"/>
                </a:solidFill>
                <a:latin typeface="Georgia"/>
              </a:rPr>
              <a:t>três</a:t>
            </a:r>
            <a:r>
              <a:rPr sz="2700" b="1" i="0" dirty="0">
                <a:solidFill>
                  <a:srgbClr val="0A2240"/>
                </a:solidFill>
                <a:latin typeface="Georgia"/>
              </a:rPr>
              <a:t> </a:t>
            </a:r>
            <a:r>
              <a:rPr sz="2700" b="1" i="0" dirty="0" err="1">
                <a:solidFill>
                  <a:srgbClr val="0A2240"/>
                </a:solidFill>
                <a:latin typeface="Georgia"/>
              </a:rPr>
              <a:t>horizontes</a:t>
            </a:r>
            <a:r>
              <a:rPr sz="2700" b="1" i="0" dirty="0">
                <a:solidFill>
                  <a:srgbClr val="0A2240"/>
                </a:solidFill>
                <a:latin typeface="Georgia"/>
              </a:rPr>
              <a:t>, um </a:t>
            </a:r>
            <a:r>
              <a:rPr sz="2700" b="1" i="0" dirty="0" err="1">
                <a:solidFill>
                  <a:srgbClr val="0A2240"/>
                </a:solidFill>
                <a:latin typeface="Georgia"/>
              </a:rPr>
              <a:t>protocolo</a:t>
            </a:r>
            <a:endParaRPr sz="2700" b="1" i="0" dirty="0">
              <a:solidFill>
                <a:srgbClr val="0A2240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56748"/>
              </p:ext>
            </p:extLst>
          </p:nvPr>
        </p:nvGraphicFramePr>
        <p:xfrm>
          <a:off x="685800" y="1737360"/>
          <a:ext cx="10817349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4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69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Horizonte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Campeão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MASE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vs. naive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 (corrigido)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Veredito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F28"/>
                          </a:solidFill>
                          <a:latin typeface="Calibri"/>
                        </a:rPr>
                        <a:t>h = 1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28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28"/>
                          </a:solidFill>
                          <a:latin typeface="Calibri"/>
                        </a:rPr>
                        <a:t>2,84%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28"/>
                          </a:solidFill>
                          <a:latin typeface="Calibri"/>
                        </a:rPr>
                        <a:t>0,617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28"/>
                          </a:solidFill>
                          <a:latin typeface="Calibri"/>
                        </a:rPr>
                        <a:t>+42,0%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5B"/>
                          </a:solidFill>
                          <a:latin typeface="Calibri"/>
                        </a:rPr>
                        <a:t>0,011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5B"/>
                          </a:solidFill>
                          <a:latin typeface="Calibri"/>
                        </a:rPr>
                        <a:t>ganho real</a:t>
                      </a:r>
                    </a:p>
                  </a:txBody>
                  <a:tcPr marL="73152" marR="7315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h = 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4,20%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0,922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+13,4%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0,526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não significativo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h = 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Ridge + Fourier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4,39%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0,954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+10,3%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28"/>
                          </a:solidFill>
                          <a:latin typeface="Calibri"/>
                        </a:rPr>
                        <a:t>0,526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dirty="0">
                          <a:solidFill>
                            <a:srgbClr val="B5342A"/>
                          </a:solidFill>
                          <a:latin typeface="Calibri"/>
                        </a:rPr>
                        <a:t>Não significativo</a:t>
                      </a:r>
                      <a:endParaRPr sz="1300" b="0" dirty="0">
                        <a:solidFill>
                          <a:srgbClr val="B5342A"/>
                        </a:solidFill>
                        <a:latin typeface="Calibri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Naive </a:t>
                      </a:r>
                      <a:r>
                        <a:rPr sz="130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sazonal</a:t>
                      </a:r>
                      <a:endParaRPr sz="1300" b="0" dirty="0">
                        <a:solidFill>
                          <a:srgbClr val="1A1F28"/>
                        </a:solidFill>
                        <a:latin typeface="Calibri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4,92%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1,064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o </a:t>
                      </a:r>
                      <a:r>
                        <a:rPr sz="130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piso</a:t>
                      </a:r>
                      <a:r>
                        <a:rPr sz="1300" b="0" dirty="0">
                          <a:solidFill>
                            <a:srgbClr val="1A1F28"/>
                          </a:solidFill>
                          <a:latin typeface="Calibri"/>
                        </a:rPr>
                        <a:t> a </a:t>
                      </a:r>
                      <a:r>
                        <a:rPr sz="1300" b="0" dirty="0" err="1">
                          <a:solidFill>
                            <a:srgbClr val="1A1F28"/>
                          </a:solidFill>
                          <a:latin typeface="Calibri"/>
                        </a:rPr>
                        <a:t>superar</a:t>
                      </a:r>
                      <a:endParaRPr sz="1300" b="0" dirty="0">
                        <a:solidFill>
                          <a:srgbClr val="1A1F28"/>
                        </a:solidFill>
                        <a:latin typeface="Calibri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794760"/>
            <a:ext cx="53949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Como ler a coluna q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Foram 21 comparações nesta rodada. A 5%, cerca de uma passaria por puro acaso.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Benjamini-Hochberg corrige isso. Só 6 sobrevivem — e todas em h=1.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MASE abaixo de 1 = melhor que repetir o ano anterior</a:t>
            </a:r>
          </a:p>
        </p:txBody>
      </p:sp>
      <p:pic>
        <p:nvPicPr>
          <p:cNvPr id="8" name="Picture 7" descr="10_backtest_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794760"/>
            <a:ext cx="5212080" cy="1812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680809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A6472"/>
                </a:solidFill>
                <a:latin typeface="Calibri"/>
              </a:rPr>
              <a:t>h=1 · realizado vs. previsto na janela de teste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04 · O PONTO DE VIRADA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O teste que derrubou a minha própria 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1F28"/>
                </a:solidFill>
                <a:latin typeface="Calibri"/>
              </a:rPr>
              <a:t>Uma janela de teste responde “quanto o modelo ganhou naqueles meses”. Não responde “o modelo ganha”. Repeti a medição em quatro janelas, de 3 a 23 anos.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61726"/>
              </p:ext>
            </p:extLst>
          </p:nvPr>
        </p:nvGraphicFramePr>
        <p:xfrm>
          <a:off x="685800" y="2743200"/>
          <a:ext cx="5486397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Janela de teste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Período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 = 1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 = 12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F28"/>
                          </a:solidFill>
                          <a:latin typeface="Calibri"/>
                        </a:rPr>
                        <a:t>36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F28"/>
                          </a:solidFill>
                          <a:latin typeface="Calibri"/>
                        </a:rPr>
                        <a:t>2014/09 a 2017/08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E7D5B"/>
                          </a:solidFill>
                          <a:latin typeface="Calibri"/>
                        </a:rPr>
                        <a:t>+42,0%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E7D5B"/>
                          </a:solidFill>
                          <a:latin typeface="Calibri"/>
                        </a:rPr>
                        <a:t>+10,3%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F28"/>
                          </a:solidFill>
                          <a:latin typeface="Calibri"/>
                        </a:rPr>
                        <a:t>72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F28"/>
                          </a:solidFill>
                          <a:latin typeface="Calibri"/>
                        </a:rPr>
                        <a:t>2011/09 a 2017/08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E7D5B"/>
                          </a:solidFill>
                          <a:latin typeface="Calibri"/>
                        </a:rPr>
                        <a:t>+41,6%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E7D5B"/>
                          </a:solidFill>
                          <a:latin typeface="Calibri"/>
                        </a:rPr>
                        <a:t>+0,4%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F28"/>
                          </a:solidFill>
                          <a:latin typeface="Calibri"/>
                        </a:rPr>
                        <a:t>144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F28"/>
                          </a:solidFill>
                          <a:latin typeface="Calibri"/>
                        </a:rPr>
                        <a:t>2005/09 a 2017/08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E7D5B"/>
                          </a:solidFill>
                          <a:latin typeface="Calibri"/>
                        </a:rPr>
                        <a:t>+42,3%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5342A"/>
                          </a:solidFill>
                          <a:latin typeface="Calibri"/>
                        </a:rPr>
                        <a:t>−29,4%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pt-BR" sz="1250" b="0" dirty="0">
                          <a:solidFill>
                            <a:srgbClr val="1A1F28"/>
                          </a:solidFill>
                          <a:latin typeface="Calibri"/>
                        </a:rPr>
                        <a:t>~</a:t>
                      </a:r>
                      <a:r>
                        <a:rPr sz="1250" b="0" dirty="0">
                          <a:solidFill>
                            <a:srgbClr val="1A1F28"/>
                          </a:solidFill>
                          <a:latin typeface="Calibri"/>
                        </a:rPr>
                        <a:t>28</a:t>
                      </a:r>
                      <a:r>
                        <a:rPr lang="pt-BR" sz="1250" b="0" dirty="0">
                          <a:solidFill>
                            <a:srgbClr val="1A1F28"/>
                          </a:solidFill>
                          <a:latin typeface="Calibri"/>
                        </a:rPr>
                        <a:t>0</a:t>
                      </a:r>
                      <a:r>
                        <a:rPr sz="1250" b="0" dirty="0">
                          <a:solidFill>
                            <a:srgbClr val="1A1F28"/>
                          </a:solidFill>
                          <a:latin typeface="Calibri"/>
                        </a:rPr>
                        <a:t>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A1F28"/>
                          </a:solidFill>
                          <a:latin typeface="Calibri"/>
                        </a:rPr>
                        <a:t>1994 a 2017/08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E7D5B"/>
                          </a:solidFill>
                          <a:latin typeface="Calibri"/>
                        </a:rPr>
                        <a:t>+31,9%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B5342A"/>
                          </a:solidFill>
                          <a:latin typeface="Calibri"/>
                        </a:rPr>
                        <a:t>−18,4%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16_sensibilidade_jan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212080" cy="20848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892040"/>
            <a:ext cx="10817352" cy="123444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102352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Em h=1 a vantagem se mantém entre +32% e +42% ao longo de 23 anos. Em h=12 ela troca de sinal: +10% numa janela, −29% em outra. Um modelo cuja vantagem muda de sinal conforme o período não é indeciso — o ganho dele não é reproduzível.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04 · HONESTIDADE SOBRE O QUE SABEMOS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“Empate” descreve os modelos ou o experimento?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472"/>
                </a:solidFill>
                <a:latin typeface="Calibri"/>
              </a:rPr>
              <a:t>Não rejeitar a hipótese nula não prova equivalência. Antes de dizer “os modelos são iguais”, é preciso saber se o experimento conseguiria enxergar uma diferença.</a:t>
            </a:r>
          </a:p>
        </p:txBody>
      </p:sp>
      <p:pic>
        <p:nvPicPr>
          <p:cNvPr id="7" name="Picture 6" descr="14_bootstrap_gan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6000"/>
            <a:ext cx="5349240" cy="1729047"/>
          </a:xfrm>
          <a:prstGeom prst="rect">
            <a:avLst/>
          </a:prstGeom>
        </p:spPr>
      </p:pic>
      <p:pic>
        <p:nvPicPr>
          <p:cNvPr id="8" name="Picture 7" descr="15_poder_do_te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286000"/>
            <a:ext cx="5212080" cy="2200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5257800"/>
            <a:ext cx="10817352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5257800"/>
            <a:ext cx="38100" cy="9144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4406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F28"/>
                </a:solidFill>
                <a:latin typeface="Calibri"/>
              </a:rPr>
              <a:t>Em h=12 o intervalo do ganho vai de −8,8% a +18,5% — o zero está dentro. E esta amostra só detectaria vantagens acima de 40%. A observada foi +10,3%: “empate” aqui descreve o experimento, não os modelos.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04 · MÉTRICAS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O que isso significa em decisão de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F28"/>
                </a:solidFill>
                <a:latin typeface="Calibri"/>
              </a:rPr>
              <a:t>São dois produtos, não um — com donos, cadências e custos diferentes.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5166360" cy="3840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Ajuste operacional · h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Recomendação: usar modelo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Erro cai de 4,92% para 2,84% — +42% de redução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Em unidade do índice: 5,5 → 3,2 pontos de erro médio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Ganho reproduzível em 23 anos de teste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Uso: programação de produção de curto prazo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194560"/>
            <a:ext cx="5166360" cy="384048"/>
          </a:xfrm>
          <a:prstGeom prst="rect">
            <a:avLst/>
          </a:prstGeom>
          <a:solidFill>
            <a:srgbClr val="B53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2286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Plano anual (S&amp;OP) · h =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Recomendação: usar o naive sazonal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Barato, explicável, sem custo de manutenção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O modelo que competiria não sustenta a própria vantagem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Manter modelo aqui é custo sem retorno demonstrado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Uso: capacidade, contrato de insumo, orçamento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892040"/>
            <a:ext cx="10817352" cy="123444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O que ainda precisa do time de S&amp;OP: converter ponto de índice em unidade física e em custo. Eu não estimei valor financeiro porque o índice do FRED é adimensional — inventar um número em reais aqui seria precisão falsa. Com o custo real de ruptura e de estoque, essa conta fecha em uma reunião.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04 · 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O que o S&amp;OP recebe,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3_forecast_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5760720" cy="2003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814241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A6472"/>
                </a:solidFill>
                <a:latin typeface="Calibri"/>
              </a:rPr>
              <a:t>A faixa não é teórica: vem dos erros reais do 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Uma tabela, não um notebook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2194560"/>
          <a:ext cx="5166359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Horizonte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Modelo entregue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Recomendada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1 mês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5B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1 mês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Naive sazonal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A6472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3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A6472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3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Naive sazonal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5B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Ridge + Fourier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A6472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F28"/>
                          </a:solidFill>
                          <a:latin typeface="Calibri"/>
                        </a:rPr>
                        <a:t>Naive sazonal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7D5B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4572000"/>
            <a:ext cx="5166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472"/>
                </a:solidFill>
                <a:latin typeface="Calibri"/>
              </a:rPr>
              <a:t>A camada de consumo entrega as duas previsões e marca qual seguir. Sem essa coluna, o painel mostraria o modelo reprovado em h=3 e h=12 enquanto o relatório recomenda o naive — a recomendação ficaria fora da entrega.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989320"/>
            <a:ext cx="10817352" cy="62179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989320"/>
            <a:ext cx="38100" cy="621792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614476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A1F28"/>
                </a:solidFill>
                <a:latin typeface="Calibri"/>
              </a:rPr>
              <a:t>Previsão sem faixa de incerteza é um número; com faixa, é uma decisão de quanto arriscar.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Arquitetura para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3A8DE"/>
                </a:solidFill>
                <a:latin typeface="Calibri"/>
              </a:rPr>
              <a:t>Como isso deixa de ser um repositório e vira um produto de dados</a:t>
            </a:r>
          </a:p>
        </p:txBody>
      </p:sp>
      <p:pic>
        <p:nvPicPr>
          <p:cNvPr id="8" name="Imagem 7" descr="Nestle Logo and symbol, meaning, history, PNG, brand">
            <a:extLst>
              <a:ext uri="{FF2B5EF4-FFF2-40B4-BE49-F238E27FC236}">
                <a16:creationId xmlns:a16="http://schemas.microsoft.com/office/drawing/2014/main" id="{2063A704-ACEE-AC97-84E4-C7B6A0491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29" y="434474"/>
            <a:ext cx="4675066" cy="26297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05 · O REPOSITÓRIO —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src/ — cada garantia mora num módulo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A6472"/>
                </a:solidFill>
                <a:latin typeface="Calibri"/>
              </a:rPr>
              <a:t>A biblioteca entre o CSV bruto e o relatório — sete módulos, lidos na ordem em que o dado passa.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64080"/>
          <a:ext cx="1081735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Módulo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 que faz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 garantia que carrega</a:t>
                      </a:r>
                    </a:p>
                  </a:txBody>
                  <a:tcPr marL="73152" marR="73152"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A9"/>
                          </a:solidFill>
                          <a:latin typeface="Calibri"/>
                        </a:rPr>
                        <a:t>data/loader.py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8"/>
                          </a:solidFill>
                          <a:latin typeface="Calibri"/>
                        </a:rPr>
                        <a:t>ingestão com contrato de dados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2"/>
                          </a:solidFill>
                          <a:latin typeface="Calibri"/>
                        </a:rPr>
                        <a:t>recusa coluna faltando, buraco na grade e valor fora da faixa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A9"/>
                          </a:solidFill>
                          <a:latin typeface="Calibri"/>
                        </a:rPr>
                        <a:t>data/calendar_features.py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8"/>
                          </a:solidFill>
                          <a:latin typeface="Calibri"/>
                        </a:rPr>
                        <a:t>Páscoa, feriados e dias úteis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2"/>
                          </a:solidFill>
                          <a:latin typeface="Calibri"/>
                        </a:rPr>
                        <a:t>calculados, não baixados — zero dependência de rede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A9"/>
                          </a:solidFill>
                          <a:latin typeface="Calibri"/>
                        </a:rPr>
                        <a:t>features/build_features.py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8"/>
                          </a:solidFill>
                          <a:latin typeface="Calibri"/>
                        </a:rPr>
                        <a:t>matriz supervisionada por horizonte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2"/>
                          </a:solidFill>
                          <a:latin typeface="Calibri"/>
                        </a:rPr>
                        <a:t>k ≥ h imposto em código: defasagem ilegal levanta exceção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A9"/>
                          </a:solidFill>
                          <a:latin typeface="Calibri"/>
                        </a:rPr>
                        <a:t>models/registry.py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8"/>
                          </a:solidFill>
                          <a:latin typeface="Calibri"/>
                        </a:rPr>
                        <a:t>8 modelos, interface sklearn única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2"/>
                          </a:solidFill>
                          <a:latin typeface="Calibri"/>
                        </a:rPr>
                        <a:t>boosters opcionais: sem eles, o pipeline roda do mesmo jeito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A9"/>
                          </a:solidFill>
                          <a:latin typeface="Calibri"/>
                        </a:rPr>
                        <a:t>evaluation/backtest.py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8"/>
                          </a:solidFill>
                          <a:latin typeface="Calibri"/>
                        </a:rPr>
                        <a:t>walk-forward com embargo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2"/>
                          </a:solidFill>
                          <a:latin typeface="Calibri"/>
                        </a:rPr>
                        <a:t>treino usa só alvos observáveis na origem da previsão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A9"/>
                          </a:solidFill>
                          <a:latin typeface="Calibri"/>
                        </a:rPr>
                        <a:t>evaluation/metrics · uncertainty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8"/>
                          </a:solidFill>
                          <a:latin typeface="Calibri"/>
                        </a:rPr>
                        <a:t>DM + BH · bootstrap + poder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2"/>
                          </a:solidFill>
                          <a:latin typeface="Calibri"/>
                        </a:rPr>
                        <a:t>separa “menor erro na tabela” de “modelo melhor”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5CA9"/>
                          </a:solidFill>
                          <a:latin typeface="Calibri"/>
                        </a:rPr>
                        <a:t>config.py · artifacts.py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F28"/>
                          </a:solidFill>
                          <a:latin typeface="Calibri"/>
                        </a:rPr>
                        <a:t>YAML tipado · escrita de 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A6472"/>
                          </a:solidFill>
                          <a:latin typeface="Calibri"/>
                        </a:rPr>
                        <a:t>parâmetros num lugar só; proveniência gravada no artefato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5036820"/>
            <a:ext cx="10817352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4892040"/>
            <a:ext cx="38100" cy="118872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21970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F28"/>
                </a:solidFill>
                <a:latin typeface="Calibri"/>
              </a:rPr>
              <a:t>Nenhum módulo de src/ escreve em disco ou imprime na tela — recebem dados, devolvem dados. Orquestrar é papel dos scripts, e é isso que deixa cada garantia testável em isolamento: 81 testes travam os comportamentos desta tabela.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05 · O REPOSITÓRIO —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scripts/ — onze etapas, na ordem do 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2148840" cy="932688"/>
          </a:xfrm>
          <a:prstGeom prst="rect">
            <a:avLst/>
          </a:prstGeom>
          <a:solidFill>
            <a:srgbClr val="63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GATE DE QUALIDADE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691640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874520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1 · lint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ruff em src, scripts e tests — antes de qualquer dado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8060" y="1691640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5220" y="1874520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2 ·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5220" y="2194560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81 testes: contrato, vazamento, embargo, 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70632"/>
            <a:ext cx="2148840" cy="932688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04495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DADO E AUDITORIA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3 · refined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contrato aplicado — tudo a jusante lê daqui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1312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028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4 ·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028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as 4 verificações do zero: PASSOU / FALHOU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300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00160" y="2953512"/>
            <a:ext cx="2438400" cy="216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05CA9"/>
                </a:solidFill>
                <a:latin typeface="Calibri"/>
              </a:rPr>
              <a:t>5 · </a:t>
            </a:r>
            <a:r>
              <a:rPr sz="1300" b="1" i="0" dirty="0" err="1">
                <a:solidFill>
                  <a:srgbClr val="005CA9"/>
                </a:solidFill>
                <a:latin typeface="Calibri"/>
              </a:rPr>
              <a:t>eda</a:t>
            </a:r>
            <a:r>
              <a:rPr lang="pt-BR" sz="1050" b="1" i="0" dirty="0">
                <a:solidFill>
                  <a:srgbClr val="005CA9"/>
                </a:solidFill>
                <a:latin typeface="Calibri"/>
              </a:rPr>
              <a:t> NE</a:t>
            </a:r>
            <a:endParaRPr sz="1300" b="1" i="0" dirty="0">
              <a:solidFill>
                <a:srgbClr val="005CA9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0016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9 figuras + eda.json — texto derivado do dado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849624"/>
            <a:ext cx="2148840" cy="93268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12394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EVIDÊNCIA ESTATÍSTICA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928616"/>
            <a:ext cx="2148840" cy="932688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20293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ENTREGA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928616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111496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4226"/>
                </a:solidFill>
                <a:latin typeface="Calibri"/>
              </a:rPr>
              <a:t>10 · gold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431536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a tabela que o S&amp;OP lê, com a coluna “recomendada”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8060" y="4928616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75220" y="5111496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4226"/>
                </a:solidFill>
                <a:latin typeface="Calibri"/>
              </a:rPr>
              <a:t>11 · 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5220" y="5431536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RESULTS.md + bloco do README — nenhum número à mão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43600"/>
            <a:ext cx="10607040" cy="481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 dirty="0">
                <a:solidFill>
                  <a:srgbClr val="6B4226"/>
                </a:solidFill>
                <a:latin typeface="Calibri"/>
              </a:rPr>
              <a:t>run_all.py executa a sequência em qualquer sistema e para no primeiro erro: um relatório parcial com cara de completo é pior que nenhum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relatório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.</a:t>
            </a:r>
            <a:endParaRPr lang="pt-BR" sz="1300" b="0" i="1" dirty="0">
              <a:solidFill>
                <a:srgbClr val="6B4226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lang="pt-BR" sz="1300" i="1" dirty="0">
                <a:solidFill>
                  <a:srgbClr val="6B4226"/>
                </a:solidFill>
                <a:latin typeface="Calibri"/>
              </a:rPr>
              <a:t>*  O projeto não persiste modelo treinado atualmente (em produção isso mudaria: MLFLOW registraria e </a:t>
            </a:r>
            <a:r>
              <a:rPr lang="pt-BR" sz="1300" i="1" dirty="0" err="1">
                <a:solidFill>
                  <a:srgbClr val="6B4226"/>
                </a:solidFill>
                <a:latin typeface="Calibri"/>
              </a:rPr>
              <a:t>versionaria</a:t>
            </a:r>
            <a:r>
              <a:rPr lang="pt-BR" sz="1300" i="1" dirty="0">
                <a:solidFill>
                  <a:srgbClr val="6B4226"/>
                </a:solidFill>
                <a:latin typeface="Calibri"/>
              </a:rPr>
              <a:t> modelo)</a:t>
            </a:r>
            <a:endParaRPr sz="1300" b="0" i="1" dirty="0">
              <a:solidFill>
                <a:srgbClr val="6B4226"/>
              </a:solidFill>
              <a:latin typeface="Calibri"/>
            </a:endParaRPr>
          </a:p>
        </p:txBody>
      </p:sp>
      <p:sp>
        <p:nvSpPr>
          <p:cNvPr id="60" name="RectF3-60"/>
          <p:cNvSpPr/>
          <p:nvPr/>
        </p:nvSpPr>
        <p:spPr>
          <a:xfrm>
            <a:off x="3063240" y="3849624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HeadF3-61"/>
          <p:cNvSpPr txBox="1"/>
          <p:nvPr/>
        </p:nvSpPr>
        <p:spPr>
          <a:xfrm>
            <a:off x="3182112" y="4032504"/>
            <a:ext cx="1746504" cy="216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A2240"/>
                </a:solidFill>
                <a:latin typeface="Calibri"/>
              </a:rPr>
              <a:t>6 · benchmark</a:t>
            </a:r>
            <a:r>
              <a:rPr lang="pt-BR" sz="1300" b="1" i="0" dirty="0">
                <a:solidFill>
                  <a:srgbClr val="0A2240"/>
                </a:solidFill>
                <a:latin typeface="Calibri"/>
              </a:rPr>
              <a:t>*</a:t>
            </a:r>
            <a:endParaRPr sz="1300" b="1" i="0" dirty="0">
              <a:solidFill>
                <a:srgbClr val="0A2240"/>
              </a:solidFill>
              <a:latin typeface="Calibri"/>
            </a:endParaRPr>
          </a:p>
        </p:txBody>
      </p:sp>
      <p:sp>
        <p:nvSpPr>
          <p:cNvPr id="62" name="DescF3-62"/>
          <p:cNvSpPr txBox="1"/>
          <p:nvPr/>
        </p:nvSpPr>
        <p:spPr>
          <a:xfrm>
            <a:off x="3182112" y="4279392"/>
            <a:ext cx="174650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 dirty="0">
                <a:solidFill>
                  <a:srgbClr val="5A6472"/>
                </a:solidFill>
                <a:latin typeface="Calibri"/>
              </a:rPr>
              <a:t>8 modelos × 3 horizontes, DM + BH</a:t>
            </a:r>
          </a:p>
        </p:txBody>
      </p:sp>
      <p:sp>
        <p:nvSpPr>
          <p:cNvPr id="63" name="RectF3-63"/>
          <p:cNvSpPr/>
          <p:nvPr/>
        </p:nvSpPr>
        <p:spPr>
          <a:xfrm>
            <a:off x="5202936" y="3849624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HeadF3-64"/>
          <p:cNvSpPr txBox="1"/>
          <p:nvPr/>
        </p:nvSpPr>
        <p:spPr>
          <a:xfrm>
            <a:off x="5321808" y="4032504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7 · forecast</a:t>
            </a:r>
          </a:p>
        </p:txBody>
      </p:sp>
      <p:sp>
        <p:nvSpPr>
          <p:cNvPr id="65" name="DescF3-65"/>
          <p:cNvSpPr txBox="1"/>
          <p:nvPr/>
        </p:nvSpPr>
        <p:spPr>
          <a:xfrm>
            <a:off x="5321808" y="4279392"/>
            <a:ext cx="174650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 dirty="0">
                <a:solidFill>
                  <a:srgbClr val="5A6472"/>
                </a:solidFill>
                <a:latin typeface="Calibri"/>
              </a:rPr>
              <a:t>campeão por horizonte + explicação</a:t>
            </a:r>
          </a:p>
        </p:txBody>
      </p:sp>
      <p:sp>
        <p:nvSpPr>
          <p:cNvPr id="66" name="RectF3-66"/>
          <p:cNvSpPr/>
          <p:nvPr/>
        </p:nvSpPr>
        <p:spPr>
          <a:xfrm>
            <a:off x="7342631" y="3849624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HeadF3-67"/>
          <p:cNvSpPr txBox="1"/>
          <p:nvPr/>
        </p:nvSpPr>
        <p:spPr>
          <a:xfrm>
            <a:off x="7461503" y="4032504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8 · uncertainty</a:t>
            </a:r>
          </a:p>
        </p:txBody>
      </p:sp>
      <p:sp>
        <p:nvSpPr>
          <p:cNvPr id="68" name="DescF3-68"/>
          <p:cNvSpPr txBox="1"/>
          <p:nvPr/>
        </p:nvSpPr>
        <p:spPr>
          <a:xfrm>
            <a:off x="7461503" y="4279392"/>
            <a:ext cx="174650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 dirty="0">
                <a:solidFill>
                  <a:srgbClr val="5A6472"/>
                </a:solidFill>
                <a:latin typeface="Calibri"/>
              </a:rPr>
              <a:t>intervalo do ganho + poder do teste</a:t>
            </a:r>
          </a:p>
        </p:txBody>
      </p:sp>
      <p:sp>
        <p:nvSpPr>
          <p:cNvPr id="69" name="RectF3-69"/>
          <p:cNvSpPr/>
          <p:nvPr/>
        </p:nvSpPr>
        <p:spPr>
          <a:xfrm>
            <a:off x="9486900" y="3849624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HeadF3-70"/>
          <p:cNvSpPr txBox="1"/>
          <p:nvPr/>
        </p:nvSpPr>
        <p:spPr>
          <a:xfrm>
            <a:off x="9605772" y="4032504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9 · sensitivity</a:t>
            </a:r>
          </a:p>
        </p:txBody>
      </p:sp>
      <p:sp>
        <p:nvSpPr>
          <p:cNvPr id="71" name="DescF3-71"/>
          <p:cNvSpPr txBox="1"/>
          <p:nvPr/>
        </p:nvSpPr>
        <p:spPr>
          <a:xfrm>
            <a:off x="9605772" y="4279392"/>
            <a:ext cx="174650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 dirty="0">
                <a:solidFill>
                  <a:srgbClr val="5A6472"/>
                </a:solidFill>
                <a:latin typeface="Calibri"/>
              </a:rPr>
              <a:t>4 janelas — a etapa que reprovou h=12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APÊNDICE · 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A stack é deliberadamente pequena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2148840" cy="932688"/>
          </a:xfrm>
          <a:prstGeom prst="rect">
            <a:avLst/>
          </a:prstGeom>
          <a:solidFill>
            <a:srgbClr val="63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NÚCLEO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70632"/>
            <a:ext cx="2148840" cy="932688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04495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INFRA DE DADO E FIGURA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matplotlib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24 figuras em backend Agg — roda em servidor, sem tela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1312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028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pyarrow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028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o motor do Parquet — nunca importado direto no código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300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0016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PyYAML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016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uma linha: safe_load — load executaria código do arquivo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849624"/>
            <a:ext cx="2148840" cy="93268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12394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OPCIONAIS — o pipeline roda sem eles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928616"/>
            <a:ext cx="2148840" cy="932688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20293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QUALIDADE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928616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111496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4226"/>
                </a:solidFill>
                <a:latin typeface="Calibri"/>
              </a:rPr>
              <a:t>pytest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431536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81 testes: contrato de dados, vazamento, embargo, config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8060" y="4928616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75220" y="5111496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4226"/>
                </a:solidFill>
                <a:latin typeface="Calibri"/>
              </a:rPr>
              <a:t>ruff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5220" y="5431536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lint e ordem de imports — regras versionadas no pyproject.toml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436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 dirty="0">
                <a:solidFill>
                  <a:srgbClr val="6B4226"/>
                </a:solidFill>
                <a:latin typeface="Calibri"/>
              </a:rPr>
              <a:t>O que falta na lista é o argumento: nenhum cross_val_score ou GridSearchCV — a CV pronta embaralha e não conhece origem de previsão; o backtest próprio (260 linhas) é controle sobre o ponto onde o bug morava.</a:t>
            </a:r>
          </a:p>
        </p:txBody>
      </p:sp>
      <p:sp>
        <p:nvSpPr>
          <p:cNvPr id="60" name="R1-60"/>
          <p:cNvSpPr/>
          <p:nvPr/>
        </p:nvSpPr>
        <p:spPr>
          <a:xfrm>
            <a:off x="3063240" y="1691640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H1-61"/>
          <p:cNvSpPr txBox="1"/>
          <p:nvPr/>
        </p:nvSpPr>
        <p:spPr>
          <a:xfrm>
            <a:off x="3182112" y="1874520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pandas</a:t>
            </a:r>
          </a:p>
        </p:txBody>
      </p:sp>
      <p:sp>
        <p:nvSpPr>
          <p:cNvPr id="62" name="D1-62"/>
          <p:cNvSpPr txBox="1"/>
          <p:nvPr/>
        </p:nvSpPr>
        <p:spPr>
          <a:xfrm>
            <a:off x="3182112" y="2139696"/>
            <a:ext cx="174650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o embargo é um DateOffset; features são shift e rolling</a:t>
            </a:r>
          </a:p>
        </p:txBody>
      </p:sp>
      <p:sp>
        <p:nvSpPr>
          <p:cNvPr id="63" name="R1-63"/>
          <p:cNvSpPr/>
          <p:nvPr/>
        </p:nvSpPr>
        <p:spPr>
          <a:xfrm>
            <a:off x="5202936" y="1691640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H1-64"/>
          <p:cNvSpPr txBox="1"/>
          <p:nvPr/>
        </p:nvSpPr>
        <p:spPr>
          <a:xfrm>
            <a:off x="5321808" y="1874520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numpy</a:t>
            </a:r>
          </a:p>
        </p:txBody>
      </p:sp>
      <p:sp>
        <p:nvSpPr>
          <p:cNvPr id="65" name="D1-65"/>
          <p:cNvSpPr txBox="1"/>
          <p:nvPr/>
        </p:nvSpPr>
        <p:spPr>
          <a:xfrm>
            <a:off x="5321808" y="2139696"/>
            <a:ext cx="174650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bootstrap semeado, quantis, monotonia do BH</a:t>
            </a:r>
          </a:p>
        </p:txBody>
      </p:sp>
      <p:sp>
        <p:nvSpPr>
          <p:cNvPr id="66" name="R1-66"/>
          <p:cNvSpPr/>
          <p:nvPr/>
        </p:nvSpPr>
        <p:spPr>
          <a:xfrm>
            <a:off x="7342632" y="1691640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H1-67"/>
          <p:cNvSpPr txBox="1"/>
          <p:nvPr/>
        </p:nvSpPr>
        <p:spPr>
          <a:xfrm>
            <a:off x="7461504" y="1874520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scikit-learn</a:t>
            </a:r>
          </a:p>
        </p:txBody>
      </p:sp>
      <p:sp>
        <p:nvSpPr>
          <p:cNvPr id="68" name="D1-68"/>
          <p:cNvSpPr txBox="1"/>
          <p:nvPr/>
        </p:nvSpPr>
        <p:spPr>
          <a:xfrm>
            <a:off x="7461504" y="2139696"/>
            <a:ext cx="174650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só o núcleo: base, ensemble, linear — 5 imports</a:t>
            </a:r>
          </a:p>
        </p:txBody>
      </p:sp>
      <p:sp>
        <p:nvSpPr>
          <p:cNvPr id="69" name="R1-69"/>
          <p:cNvSpPr/>
          <p:nvPr/>
        </p:nvSpPr>
        <p:spPr>
          <a:xfrm>
            <a:off x="9486900" y="1691640"/>
            <a:ext cx="1984248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H1-70"/>
          <p:cNvSpPr txBox="1"/>
          <p:nvPr/>
        </p:nvSpPr>
        <p:spPr>
          <a:xfrm>
            <a:off x="9605772" y="1874520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scipy</a:t>
            </a:r>
          </a:p>
        </p:txBody>
      </p:sp>
      <p:sp>
        <p:nvSpPr>
          <p:cNvPr id="71" name="D1-71"/>
          <p:cNvSpPr txBox="1"/>
          <p:nvPr/>
        </p:nvSpPr>
        <p:spPr>
          <a:xfrm>
            <a:off x="9605772" y="2139696"/>
            <a:ext cx="174650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Welch, regressão e o t.cdf do DM — 4 funções</a:t>
            </a:r>
          </a:p>
        </p:txBody>
      </p:sp>
      <p:sp>
        <p:nvSpPr>
          <p:cNvPr id="72" name="R3-72"/>
          <p:cNvSpPr/>
          <p:nvPr/>
        </p:nvSpPr>
        <p:spPr>
          <a:xfrm>
            <a:off x="3063240" y="3849624"/>
            <a:ext cx="4142232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H3-73"/>
          <p:cNvSpPr txBox="1"/>
          <p:nvPr/>
        </p:nvSpPr>
        <p:spPr>
          <a:xfrm>
            <a:off x="3200400" y="4032504"/>
            <a:ext cx="3867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xgboost · lightgbm</a:t>
            </a:r>
          </a:p>
        </p:txBody>
      </p:sp>
      <p:sp>
        <p:nvSpPr>
          <p:cNvPr id="74" name="D3-74"/>
          <p:cNvSpPr txBox="1"/>
          <p:nvPr/>
        </p:nvSpPr>
        <p:spPr>
          <a:xfrm>
            <a:off x="3200400" y="4352544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import tolerante: comparam implementações de boosting; ausentes, o registry só não os inclui</a:t>
            </a:r>
          </a:p>
        </p:txBody>
      </p:sp>
      <p:sp>
        <p:nvSpPr>
          <p:cNvPr id="75" name="R3-75"/>
          <p:cNvSpPr/>
          <p:nvPr/>
        </p:nvSpPr>
        <p:spPr>
          <a:xfrm>
            <a:off x="7342632" y="3849624"/>
            <a:ext cx="4142232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H3-76"/>
          <p:cNvSpPr txBox="1"/>
          <p:nvPr/>
        </p:nvSpPr>
        <p:spPr>
          <a:xfrm>
            <a:off x="7479792" y="4032504"/>
            <a:ext cx="3867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shap</a:t>
            </a:r>
          </a:p>
        </p:txBody>
      </p:sp>
      <p:sp>
        <p:nvSpPr>
          <p:cNvPr id="77" name="D3-77"/>
          <p:cNvSpPr txBox="1"/>
          <p:nvPr/>
        </p:nvSpPr>
        <p:spPr>
          <a:xfrm>
            <a:off x="7479792" y="4352544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TreeSHAP quando o campeão é árvore; ausente, cai para a importância nativa e o pipeline segue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05 · IMPLANTAÇÃO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Arquitetura de referência em Azure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2148840" cy="932688"/>
          </a:xfrm>
          <a:prstGeom prst="rect">
            <a:avLst/>
          </a:prstGeom>
          <a:solidFill>
            <a:srgbClr val="63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INGESTÃO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691640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874520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FRED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coleta mensal agendada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8060" y="1691640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3A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5220" y="1874520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Data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5220" y="2194560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orquestração da carga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70632"/>
            <a:ext cx="2148840" cy="932688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04495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ARMAZENAMENTO · ADLS Gen2 + Delta Lake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imutável, como veio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1312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028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refined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028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contrato aplicado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3000" y="2770632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05C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00160" y="2953512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5CA9"/>
                </a:solidFill>
                <a:latin typeface="Calibri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0160" y="3273552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pronto para consumo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849624"/>
            <a:ext cx="2148840" cy="932688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12394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PROCESSAMENTO · Databricks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849624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4032504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352544"/>
            <a:ext cx="2438400" cy="1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 dirty="0">
                <a:solidFill>
                  <a:srgbClr val="5A6472"/>
                </a:solidFill>
                <a:latin typeface="Calibri"/>
              </a:rPr>
              <a:t>pipeline </a:t>
            </a:r>
            <a:r>
              <a:rPr sz="1050" b="0" i="0" dirty="0" err="1">
                <a:solidFill>
                  <a:srgbClr val="5A6472"/>
                </a:solidFill>
                <a:latin typeface="Calibri"/>
              </a:rPr>
              <a:t>em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1</a:t>
            </a:r>
            <a:r>
              <a:rPr lang="pt-BR" sz="1050" dirty="0">
                <a:solidFill>
                  <a:srgbClr val="5A6472"/>
                </a:solidFill>
                <a:latin typeface="Calibri"/>
              </a:rPr>
              <a:t>1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A6472"/>
                </a:solidFill>
                <a:latin typeface="Calibri"/>
              </a:rPr>
              <a:t>etapas</a:t>
            </a:r>
            <a:endParaRPr sz="105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13120" y="3849624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50280" y="4032504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MLflow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0280" y="4352544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tracking + registry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63000" y="3849624"/>
            <a:ext cx="271272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0A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00160" y="4032504"/>
            <a:ext cx="243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2240"/>
                </a:solidFill>
                <a:latin typeface="Calibri"/>
              </a:rPr>
              <a:t>Unity Catalog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0160" y="4352544"/>
            <a:ext cx="243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linhagem e acesso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928616"/>
            <a:ext cx="2148840" cy="932688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20293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CONSUMO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928616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111496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4226"/>
                </a:solidFill>
                <a:latin typeface="Calibri"/>
              </a:rPr>
              <a:t>Power 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431536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painel de S&amp;OP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8060" y="4928616"/>
            <a:ext cx="4137660" cy="932688"/>
          </a:xfrm>
          <a:prstGeom prst="rect">
            <a:avLst/>
          </a:prstGeom>
          <a:solidFill>
            <a:srgbClr val="F2F4F7"/>
          </a:solidFill>
          <a:ln w="12700">
            <a:solidFill>
              <a:srgbClr val="6B4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75220" y="5111496"/>
            <a:ext cx="38633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4226"/>
                </a:solidFill>
                <a:latin typeface="Calibri"/>
              </a:rPr>
              <a:t>API / 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5220" y="5431536"/>
            <a:ext cx="38633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472"/>
                </a:solidFill>
                <a:latin typeface="Calibri"/>
              </a:rPr>
              <a:t>integração com ERP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436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 dirty="0">
                <a:solidFill>
                  <a:srgbClr val="6B4226"/>
                </a:solidFill>
                <a:latin typeface="Calibri"/>
              </a:rPr>
              <a:t>O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repositório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já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implementa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raw → refined → gold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em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Parquet. Uma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tabela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Delta é Parquet com um log de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transações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por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cima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: a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migração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não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muda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o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formato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dos dados,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só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o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que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existe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B4226"/>
                </a:solidFill>
                <a:latin typeface="Calibri"/>
              </a:rPr>
              <a:t>em</a:t>
            </a:r>
            <a:r>
              <a:rPr sz="1300" b="0" i="1" dirty="0">
                <a:solidFill>
                  <a:srgbClr val="6B4226"/>
                </a:solidFill>
                <a:latin typeface="Calibri"/>
              </a:rPr>
              <a:t> volta deles.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05 · COMO ISSO SE SUSTENTA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Escalabilidade, observabilidade e manutenção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3429000" cy="411480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Escalabilidade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337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1A1F28"/>
                </a:solidFill>
                <a:latin typeface="Calibri"/>
              </a:rPr>
              <a:t>O pipeline é paramétrico: outra série é outro YAML, não outro código</a:t>
            </a: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sz="1200" b="0">
                <a:solidFill>
                  <a:srgbClr val="1A1F28"/>
                </a:solidFill>
                <a:latin typeface="Calibri"/>
              </a:rPr>
              <a:t>Um SKU vira uma linha da configuração; N SKUs viram N execuções paralelas do mesmo job</a:t>
            </a: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sz="1200" b="0">
                <a:solidFill>
                  <a:srgbClr val="1A1F28"/>
                </a:solidFill>
                <a:latin typeface="Calibri"/>
              </a:rPr>
              <a:t>Parquet colunar lê só as colunas pedidas — o custo cresce com o que se usa, não com o que se guarda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737360"/>
            <a:ext cx="3429000" cy="41148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2856" y="18288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Observabilidade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377440"/>
            <a:ext cx="3337560" cy="1648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0" dirty="0">
                <a:solidFill>
                  <a:srgbClr val="1A1F28"/>
                </a:solidFill>
                <a:latin typeface="Calibri"/>
              </a:rPr>
              <a:t>O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que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monitorar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é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acurácia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— é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erro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horizonte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comparado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ao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naive,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mês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mês</a:t>
            </a:r>
            <a:endParaRPr sz="1200" b="0" dirty="0">
              <a:solidFill>
                <a:srgbClr val="1A1F28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sz="1200" b="0" dirty="0" err="1">
                <a:solidFill>
                  <a:srgbClr val="1A1F28"/>
                </a:solidFill>
                <a:latin typeface="Calibri"/>
              </a:rPr>
              <a:t>Alerta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quando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o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modelo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perde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do baseline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N meses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seguidos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: é o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gatilho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de re-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eleição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do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campeão</a:t>
            </a:r>
            <a:endParaRPr sz="1200" b="0" dirty="0">
              <a:solidFill>
                <a:srgbClr val="1A1F28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sz="1200" b="0" dirty="0" err="1">
                <a:solidFill>
                  <a:srgbClr val="1A1F28"/>
                </a:solidFill>
                <a:latin typeface="Calibri"/>
              </a:rPr>
              <a:t>Contrato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de dados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na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entrada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falha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alto e para o job,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vez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propagar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dado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ruim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até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o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painel</a:t>
            </a:r>
            <a:endParaRPr sz="1200" b="0" dirty="0">
              <a:solidFill>
                <a:srgbClr val="1A1F28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4152" y="1737360"/>
            <a:ext cx="3429000" cy="41148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2" y="18288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Manutenção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2377440"/>
            <a:ext cx="3337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00" b="0" dirty="0">
                <a:solidFill>
                  <a:srgbClr val="1A1F28"/>
                </a:solidFill>
                <a:latin typeface="Calibri"/>
              </a:rPr>
              <a:t>81 testes e a auditoria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viram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gate de merge no CI</a:t>
            </a: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sz="1200" b="0" dirty="0" err="1">
                <a:solidFill>
                  <a:srgbClr val="1A1F28"/>
                </a:solidFill>
                <a:latin typeface="Calibri"/>
              </a:rPr>
              <a:t>Relatório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gerado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dos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artefatos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nenhum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número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digitado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à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mão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envelhece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silêncio</a:t>
            </a:r>
            <a:endParaRPr sz="1200" b="0" dirty="0">
              <a:solidFill>
                <a:srgbClr val="1A1F28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1300"/>
              </a:spcBef>
            </a:pPr>
            <a:r>
              <a:rPr sz="1200" b="0" dirty="0" err="1">
                <a:solidFill>
                  <a:srgbClr val="1A1F28"/>
                </a:solidFill>
                <a:latin typeface="Calibri"/>
              </a:rPr>
              <a:t>Proveniência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gravada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cada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rodada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 — </a:t>
            </a:r>
            <a:r>
              <a:rPr sz="1200" b="0" dirty="0" err="1">
                <a:solidFill>
                  <a:srgbClr val="1A1F28"/>
                </a:solidFill>
                <a:latin typeface="Calibri"/>
              </a:rPr>
              <a:t>versões</a:t>
            </a:r>
            <a:r>
              <a:rPr sz="1200" b="0" dirty="0">
                <a:solidFill>
                  <a:srgbClr val="1A1F28"/>
                </a:solidFill>
                <a:latin typeface="Calibri"/>
              </a:rPr>
              <a:t>, hash do dado, 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349240"/>
            <a:ext cx="10817352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5349240"/>
            <a:ext cx="38100" cy="86868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53212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A1F28"/>
                </a:solidFill>
                <a:latin typeface="Calibri"/>
              </a:rPr>
              <a:t>A recomendação de engenharia que sai deste case: avaliação em múltiplas janelas deve ser etapa padrão da esteira, não exceção. Foi ela que impediu uma decisão errada aqui.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A8DE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Evoluções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3A8DE"/>
                </a:solidFill>
                <a:latin typeface="Calibri"/>
              </a:rPr>
              <a:t>O que eu sei que não sei, e o que faria a seguir</a:t>
            </a:r>
          </a:p>
        </p:txBody>
      </p:sp>
      <p:pic>
        <p:nvPicPr>
          <p:cNvPr id="8" name="Imagem 7" descr="Nestle Logo and symbol, meaning, history, PNG, brand">
            <a:extLst>
              <a:ext uri="{FF2B5EF4-FFF2-40B4-BE49-F238E27FC236}">
                <a16:creationId xmlns:a16="http://schemas.microsoft.com/office/drawing/2014/main" id="{A79D7432-360E-C943-66CE-997E93F34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429" y="434474"/>
            <a:ext cx="4675066" cy="26297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06 · O QUE AINDA NÃO ESTÁ RESOLVIDO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Limitações declaradas e riscos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2240"/>
                </a:solidFill>
                <a:latin typeface="Calibri"/>
              </a:rPr>
              <a:t>Limitações da solução atual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52120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Poder estatístico em h=12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A base só detectaria vantagens acima de 40%. Diferenças menores ficam indistinguíveis de acaso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Dado agregado e antigo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NAICS 3113 junta refino de açúcar com confeitaria — duas sazonalidades num índice só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A série pública termina em 2017; a atualização é trivial, mas os números seriam outros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Explicabilidade com preditores colineares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lag_12 e lag_24 correlacionam 0,93; qualquer atribuição reparte crédito entre variáveis quase intercambiáveis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5342A"/>
                </a:solidFill>
                <a:latin typeface="Calibri"/>
              </a:rPr>
              <a:t>Riscos identificados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84831"/>
            <a:ext cx="5029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Quebra de regime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O modelo linear de h=12 extrapola tendência: ajuda em período calmo, machuca ao atravessar quebra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Viés sistemático no pico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Todos os modelos subestimam. No quarto trimestre isso é risco de ruptura, e exige margem explícita no plano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1">
                <a:solidFill>
                  <a:srgbClr val="1A1F28"/>
                </a:solidFill>
                <a:latin typeface="Calibri"/>
              </a:rPr>
              <a:t>Falsa segurança de janela única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sz="1050" b="0">
                <a:solidFill>
                  <a:srgbClr val="5A6472"/>
                </a:solidFill>
                <a:latin typeface="Calibri"/>
              </a:rPr>
              <a:t>— O risco que este trabalho materializou: um ganho medido uma vez parece sólido até ser medido de novo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06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Próximos passos, em ordem de retorno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17352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1938528"/>
            <a:ext cx="384048" cy="38404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240"/>
                </a:solidFill>
                <a:latin typeface="Calibri"/>
              </a:rPr>
              <a:t>Ampliar a janela de avaliação como padrão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3969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Já implementado neste repositório. Levar para a esteira: nenhum modelo vai a produção com uma janela de teste só.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1965960"/>
            <a:ext cx="914400" cy="310896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curto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1081735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5528" y="2807208"/>
            <a:ext cx="384048" cy="38404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15768"/>
            <a:ext cx="4754880" cy="2332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 err="1">
                <a:solidFill>
                  <a:srgbClr val="0A2240"/>
                </a:solidFill>
                <a:latin typeface="Calibri"/>
              </a:rPr>
              <a:t>Modelos</a:t>
            </a:r>
            <a:r>
              <a:rPr sz="1400" b="1" i="0" dirty="0">
                <a:solidFill>
                  <a:srgbClr val="0A2240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A2240"/>
                </a:solidFill>
                <a:latin typeface="Calibri"/>
              </a:rPr>
              <a:t>clássicos</a:t>
            </a:r>
            <a:r>
              <a:rPr sz="1400" b="1" i="0" dirty="0">
                <a:solidFill>
                  <a:srgbClr val="0A2240"/>
                </a:solidFill>
                <a:latin typeface="Calibri"/>
              </a:rPr>
              <a:t> de </a:t>
            </a:r>
            <a:r>
              <a:rPr sz="1400" b="1" i="0" dirty="0" err="1">
                <a:solidFill>
                  <a:srgbClr val="0A2240"/>
                </a:solidFill>
                <a:latin typeface="Calibri"/>
              </a:rPr>
              <a:t>série</a:t>
            </a:r>
            <a:r>
              <a:rPr sz="1400" b="1" i="0" dirty="0">
                <a:solidFill>
                  <a:srgbClr val="0A2240"/>
                </a:solidFill>
                <a:latin typeface="Calibri"/>
              </a:rPr>
              <a:t> temporal</a:t>
            </a:r>
            <a:r>
              <a:rPr lang="pt-BR" sz="1400" b="1" i="0" dirty="0">
                <a:solidFill>
                  <a:srgbClr val="0A2240"/>
                </a:solidFill>
                <a:latin typeface="Calibri"/>
              </a:rPr>
              <a:t> + </a:t>
            </a:r>
            <a:r>
              <a:rPr lang="pt-BR" sz="1400" b="1" i="0" dirty="0" err="1">
                <a:solidFill>
                  <a:srgbClr val="0A2240"/>
                </a:solidFill>
                <a:latin typeface="Calibri"/>
              </a:rPr>
              <a:t>Tunning</a:t>
            </a:r>
            <a:r>
              <a:rPr lang="pt-BR" sz="1400" b="1" i="0" dirty="0">
                <a:solidFill>
                  <a:srgbClr val="0A2240"/>
                </a:solidFill>
                <a:latin typeface="Calibri"/>
              </a:rPr>
              <a:t> de modelos</a:t>
            </a:r>
            <a:endParaRPr sz="1400" b="1" i="0" dirty="0">
              <a:solidFill>
                <a:srgbClr val="0A22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3008376"/>
            <a:ext cx="7772400" cy="395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dirty="0">
                <a:solidFill>
                  <a:srgbClr val="5A6472"/>
                </a:solidFill>
                <a:latin typeface="Calibri"/>
              </a:rPr>
              <a:t>SARIMA e ETS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como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concorrentes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no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mesmo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protocolo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. Em h=12,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onde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só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resta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o eco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sazonal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, um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modelo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paramétrico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pode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ir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melhor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que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árvore</a:t>
            </a:r>
            <a:r>
              <a:rPr lang="pt-BR" sz="1150" dirty="0">
                <a:solidFill>
                  <a:srgbClr val="5A6472"/>
                </a:solidFill>
                <a:latin typeface="Calibri"/>
              </a:rPr>
              <a:t>, e realizar o fine </a:t>
            </a:r>
            <a:r>
              <a:rPr lang="pt-BR" sz="1150" dirty="0" err="1">
                <a:solidFill>
                  <a:srgbClr val="5A6472"/>
                </a:solidFill>
                <a:latin typeface="Calibri"/>
              </a:rPr>
              <a:t>tunning</a:t>
            </a:r>
            <a:r>
              <a:rPr lang="pt-BR" sz="1150" dirty="0">
                <a:solidFill>
                  <a:srgbClr val="5A6472"/>
                </a:solidFill>
                <a:latin typeface="Calibri"/>
              </a:rPr>
              <a:t> dos modelos existentes</a:t>
            </a:r>
            <a:endParaRPr sz="115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378440" y="2834640"/>
            <a:ext cx="914400" cy="310896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curto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74720"/>
            <a:ext cx="10817352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8" y="3675888"/>
            <a:ext cx="384048" cy="384048"/>
          </a:xfrm>
          <a:prstGeom prst="round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8444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240"/>
                </a:solidFill>
                <a:latin typeface="Calibri"/>
              </a:rPr>
              <a:t>Dado desagregado por subsetor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7705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dirty="0">
                <a:solidFill>
                  <a:srgbClr val="5A6472"/>
                </a:solidFill>
                <a:latin typeface="Calibri"/>
              </a:rPr>
              <a:t>Testar a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hipótese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de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composição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com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emprego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por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NAICS de 5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dígitos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. Se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confirmada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,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modelar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as duas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sazonalidades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5A6472"/>
                </a:solidFill>
                <a:latin typeface="Calibri"/>
              </a:rPr>
              <a:t>separadamente</a:t>
            </a:r>
            <a:r>
              <a:rPr sz="1150" b="0" i="0" dirty="0">
                <a:solidFill>
                  <a:srgbClr val="5A6472"/>
                </a:solidFill>
                <a:latin typeface="Calibr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703320"/>
            <a:ext cx="914400" cy="310896"/>
          </a:xfrm>
          <a:prstGeom prst="round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343400"/>
            <a:ext cx="1081735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5528" y="4544568"/>
            <a:ext cx="384048" cy="384048"/>
          </a:xfrm>
          <a:prstGeom prst="round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531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240"/>
                </a:solidFill>
                <a:latin typeface="Calibri"/>
              </a:rPr>
              <a:t>Migração para Delta e MLflow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4573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Versionamento de tabela, leitura consistente e registro de rodadas. As camadas já existem em Parquet — é o passo natural.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4572000"/>
            <a:ext cx="914400" cy="310896"/>
          </a:xfrm>
          <a:prstGeom prst="round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212080"/>
            <a:ext cx="10817352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5528" y="5413248"/>
            <a:ext cx="384048" cy="384048"/>
          </a:xfrm>
          <a:prstGeom prst="round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2180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2240"/>
                </a:solidFill>
                <a:latin typeface="Calibri"/>
              </a:rPr>
              <a:t>Previsão probabilística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61441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2"/>
                </a:solidFill>
                <a:latin typeface="Calibri"/>
              </a:rPr>
              <a:t>Entregar quantis em vez de ponto. O S&amp;OP decide com margem: um intervalo é mais útil que um número.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5440680"/>
            <a:ext cx="914400" cy="310896"/>
          </a:xfrm>
          <a:prstGeom prst="round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longo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3A8DE"/>
                </a:solidFill>
                <a:latin typeface="Calibri"/>
              </a:rPr>
              <a:t>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FFFFFF"/>
                </a:solidFill>
                <a:latin typeface="Georgia"/>
              </a:rPr>
              <a:t>O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trabalho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não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foi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encontrar o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melhor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modelo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.
Foi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descobrir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onde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ele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se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paga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— e ter a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evidência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
para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dizer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onde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não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se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paga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334256"/>
            <a:ext cx="146304" cy="146304"/>
          </a:xfrm>
          <a:prstGeom prst="rect">
            <a:avLst/>
          </a:prstGeom>
          <a:solidFill>
            <a:srgbClr val="63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2062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+42% de redução de erro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423367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3A8DE"/>
                </a:solidFill>
                <a:latin typeface="Calibri"/>
              </a:rPr>
              <a:t>no ajuste operacional, reproduzível em 23 anos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01184"/>
            <a:ext cx="146304" cy="146304"/>
          </a:xfrm>
          <a:prstGeom prst="rect">
            <a:avLst/>
          </a:prstGeom>
          <a:solidFill>
            <a:srgbClr val="63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77316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Naive sazonal no plano 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48006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3A8DE"/>
                </a:solidFill>
                <a:latin typeface="Calibri"/>
              </a:rPr>
              <a:t>custo zero de manutenção, recomendação sustentada por evidência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468112"/>
            <a:ext cx="146304" cy="146304"/>
          </a:xfrm>
          <a:prstGeom prst="rect">
            <a:avLst/>
          </a:prstGeom>
          <a:solidFill>
            <a:srgbClr val="63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5340096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Um bug corrigido e travado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36752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3A8DE"/>
                </a:solidFill>
                <a:latin typeface="Calibri"/>
              </a:rPr>
              <a:t>com auditoria que qualquer pessoa reproduz do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722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472"/>
                </a:solidFill>
                <a:latin typeface="Calibri"/>
              </a:rPr>
              <a:t>Repositório, relatório gerado e auditoria disponíveis para a discussão técnica.</a:t>
            </a:r>
          </a:p>
        </p:txBody>
      </p:sp>
      <p:pic>
        <p:nvPicPr>
          <p:cNvPr id="17" name="Imagem 16" descr="Nestle Logo and symbol, meaning, history, PNG, brand">
            <a:extLst>
              <a:ext uri="{FF2B5EF4-FFF2-40B4-BE49-F238E27FC236}">
                <a16:creationId xmlns:a16="http://schemas.microsoft.com/office/drawing/2014/main" id="{487DC541-0A98-E2BC-3158-3E46703F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899" y="110881"/>
            <a:ext cx="3637242" cy="20459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 w="12700">
            <a:solidFill>
              <a:srgbClr val="005C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· O SETOR E A SAÍDA DA NESTLÉ EM 2018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Procurei o eco de 2018 na série — e não encontrei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46304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hipótese natural: deterioração progressiva do setor antecedendo a venda da confeitaria americana à Ferrero. Testei as duas formas que ela poderia tomar — nível caindo e sazonalidade se degradando. Nenhuma se sustenta.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nível não caiu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85800" y="2432304"/>
          <a:ext cx="4754880" cy="11704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 médio do índice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1972–1985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1986–1999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2000–2016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85800" y="37673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de −11% compara o pico de 2000 com 2016 — é recorte, não tendência. </a:t>
            </a: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médias de período, os anos 2000 produziram mais que os anos 90.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443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 que mudou foi o perfil — nos anos 90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7365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(out–dez) perdeu 7,2 pontos · vale quase não mudou (+1,6) · setembro saiu de negativo para positivo. </a:t>
            </a: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produção se distribuiu — deixou de ser indústria de temporada concentrada.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1214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 a compressão reverteu — não aponta para 2018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37744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sazonal em janelas móveis de 8 anos (pontos de índice)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268833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1972–1979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67728" y="2720340"/>
            <a:ext cx="2361814" cy="17373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9384406" y="26883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29946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1984–1991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67728" y="3026664"/>
            <a:ext cx="2514600" cy="17373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9537192" y="29946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29946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 auge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33009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1991–1998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67728" y="3332988"/>
            <a:ext cx="2164466" cy="17373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9187058" y="33009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806440" y="36073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1996–2003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67728" y="3639312"/>
            <a:ext cx="1744305" cy="17373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8766897" y="36073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806440" y="39136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1999–2006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67728" y="3945636"/>
            <a:ext cx="1566055" cy="173736"/>
          </a:xfrm>
          <a:prstGeom prst="rect">
            <a:avLst/>
          </a:prstGeom>
          <a:solidFill>
            <a:srgbClr val="B5342A"/>
          </a:solidFill>
          <a:ln w="12700">
            <a:solidFill>
              <a:srgbClr val="B534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 txBox="1"/>
          <p:nvPr/>
        </p:nvSpPr>
        <p:spPr>
          <a:xfrm>
            <a:off x="8588647" y="39136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064135" y="3913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 fundo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806440" y="42199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2004–2011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967728" y="4251960"/>
            <a:ext cx="1928921" cy="17373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 txBox="1"/>
          <p:nvPr/>
        </p:nvSpPr>
        <p:spPr>
          <a:xfrm>
            <a:off x="8951513" y="42199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45262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2009–2016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967728" y="4558284"/>
            <a:ext cx="1846162" cy="173736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 txBox="1"/>
          <p:nvPr/>
        </p:nvSpPr>
        <p:spPr>
          <a:xfrm>
            <a:off x="8868754" y="45262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9344242" y="4526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recuperada e estável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488289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em 1999–2006; os últimos anos da série estão 18% acima dele. </a:t>
            </a: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dez anos que antecedem a saída, a sazonalidade estava estável e levemente crescente.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85800" y="5504688"/>
            <a:ext cx="10817352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 txBox="1"/>
          <p:nvPr/>
        </p:nvSpPr>
        <p:spPr>
          <a:xfrm>
            <a:off x="960120" y="5596128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que os dados sustentam: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 uma empresa não aparece num índice setorial, e não vou construir narrativa que o dado não sustenta. É o quinto resultado negativo documentado do trabalho — com a Páscoa, o programa açucareiro, as exógenas de calendário e o ganho de h=12.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7D51-DCA5-AEE6-EFCE-D612BFFA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EEB9B6-734B-655F-C118-591A8E87386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00E4AB-9038-8F74-F167-3A3A7D10C078}"/>
              </a:ext>
            </a:extLst>
          </p:cNvPr>
          <p:cNvSpPr/>
          <p:nvPr/>
        </p:nvSpPr>
        <p:spPr>
          <a:xfrm>
            <a:off x="0" y="2103120"/>
            <a:ext cx="502920" cy="3810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849C4-23A5-0CB5-61A4-50D050E42875}"/>
              </a:ext>
            </a:extLst>
          </p:cNvPr>
          <p:cNvSpPr txBox="1"/>
          <p:nvPr/>
        </p:nvSpPr>
        <p:spPr>
          <a:xfrm>
            <a:off x="685800" y="2286000"/>
            <a:ext cx="10332720" cy="1018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3000" b="1" i="0" dirty="0">
                <a:solidFill>
                  <a:srgbClr val="FFFFFF"/>
                </a:solidFill>
                <a:latin typeface="Georgia"/>
              </a:rPr>
              <a:t>Obrigado!</a:t>
            </a:r>
          </a:p>
          <a:p>
            <a:pPr algn="l">
              <a:lnSpc>
                <a:spcPct val="115000"/>
              </a:lnSpc>
            </a:pPr>
            <a:r>
              <a:rPr lang="pt-BR" sz="3000" b="1" dirty="0">
                <a:solidFill>
                  <a:srgbClr val="FFFFFF"/>
                </a:solidFill>
                <a:latin typeface="Georgia"/>
              </a:rPr>
              <a:t>Agora é foco nos nossos novos desafios </a:t>
            </a:r>
            <a:r>
              <a:rPr lang="pt-BR" sz="3000" b="1" dirty="0">
                <a:solidFill>
                  <a:srgbClr val="FFFFFF"/>
                </a:solidFill>
                <a:latin typeface="Georgia"/>
                <a:sym typeface="Wingdings" panose="05000000000000000000" pitchFamily="2" charset="2"/>
              </a:rPr>
              <a:t></a:t>
            </a:r>
            <a:endParaRPr sz="3000" b="1" i="0" dirty="0">
              <a:solidFill>
                <a:srgbClr val="FFFFFF"/>
              </a:solidFill>
              <a:latin typeface="Georgia"/>
            </a:endParaRPr>
          </a:p>
        </p:txBody>
      </p:sp>
      <p:pic>
        <p:nvPicPr>
          <p:cNvPr id="17" name="Imagem 16" descr="Nestle Logo and symbol, meaning, history, PNG, brand">
            <a:extLst>
              <a:ext uri="{FF2B5EF4-FFF2-40B4-BE49-F238E27FC236}">
                <a16:creationId xmlns:a16="http://schemas.microsoft.com/office/drawing/2014/main" id="{41E8D8EE-0FC5-EF3F-3822-A29852656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899" y="110881"/>
            <a:ext cx="3637242" cy="204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18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 w="12700">
            <a:solidFill>
              <a:srgbClr val="005C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CAMADAS DE DADOS (RAW → REFINED → GOLD)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179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em cada fronteira de camada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44475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fronteira remove uma forma de ambiguidade: a primeira tira a adivinhação; a segunda tira o jargão.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836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→ refined</a:t>
            </a: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três CSVs viram uma tabela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85800" y="2194560"/>
          <a:ext cx="5074920" cy="164592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Mudança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IPG3113N, PSUGAISAUSDM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producao, acucar_mundial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 — texto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datetime64 — tipo real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arquivos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tabela, unida pela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Calendário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existia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colunas calculadas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mensal, faixa, duplicatas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85800" y="4041648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gravados no arquivo. </a:t>
            </a: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CSV a data é texto e cada leitura reinterpreta — errando em silêncio quando o formato muda. No Parquet o tipo vai junto.
</a:t>
            </a:r>
            <a:r>
              <a:rPr lang="en-US" sz="1000" b="1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calculado, não importado. </a:t>
            </a: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Páscoa, dias úteis e janelas de festa nascem na construção, sem rede.
</a:t>
            </a:r>
            <a:r>
              <a:rPr lang="en-US" sz="1000" b="1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são informação, não falha. </a:t>
            </a: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colunas de açúcar têm 240 nulos: a fonte começa em 1992. O Parquet preserva essa verdade; o CSV a transformaria em célula vazia ambígua.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188366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refined → gold</a:t>
            </a: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muda o vocabulário, não o tipo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194560"/>
            <a:ext cx="5349240" cy="71323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355080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refined  </a:t>
            </a:r>
            <a:r>
              <a:rPr lang="en-US" sz="950" dirty="0">
                <a:solidFill>
                  <a:srgbClr val="1A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producao, easter_lead_1, is_holiday_peak_season
</a:t>
            </a:r>
            <a:r>
              <a:rPr lang="en-US" sz="950" b="1" dirty="0">
                <a:solidFill>
                  <a:srgbClr val="0A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    mes_previsto, ganho_reproduzivel, recomendada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0358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precisa saber o que é uma defasagem legal para ler a gold. As três tabelas:</a:t>
            </a:r>
            <a:endParaRPr lang="en-US" sz="105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/>
        </p:nvGraphicFramePr>
        <p:xfrm>
          <a:off x="6172200" y="3346704"/>
          <a:ext cx="5349240" cy="168249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entrega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previsoes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por mês — modelo e baseline; “recomendada” marca qual seguir; intervalo já somado, não desvio a aplicar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desempenho_modelos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por modelo × horizonte, com as métricas e os p/q contra o naive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1F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estabilidade_por_janela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“ganho_reproduzivel” é bool: o veredito virou campo, não texto para interpretar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85800" y="5504688"/>
            <a:ext cx="10817352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 txBox="1"/>
          <p:nvPr/>
        </p:nvSpPr>
        <p:spPr>
          <a:xfrm>
            <a:off x="960120" y="5596128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das fronteiras: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fala a língua da modelagem; gold fala a língua da decisão. O Power BI da arquitetura lê exatamente essas três tabelas — quem consome decide sem atravessar o jargão, e o veredito estatístico chega como campo, não como parágrafo.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 w="12700">
            <a:solidFill>
              <a:srgbClr val="005C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858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AUDITORIA (scripts/audit.py)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17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provas, não quatro testes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261872"/>
            <a:ext cx="1005840" cy="36576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408176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não é teste. </a:t>
            </a:r>
            <a:r>
              <a:rPr lang="en-US" sz="120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pytest valida unidades com dado sintético em 9 segundos e serve de gate. O audit.py reproduz as afirmações do relatório com o dado real, em ~2 minutos — existe para que ninguém precise acreditar na documentação.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75104"/>
            <a:ext cx="534924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975104"/>
            <a:ext cx="5349240" cy="31089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13816" y="1975104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 das features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2359152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</a:t>
            </a:r>
            <a:r>
              <a:rPr lang="en-US" sz="100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coluna depende de defasagem menor que o horizonte.  </a:t>
            </a: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perturbação: soma 1000 a y[t−k], remonta a matriz inteira e observa quais colunas da linha t mudam. Descobre a dependência do código executado — não a que a documentação afirma.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291840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h=1: 19 colunas · h=3: 17 · h=12: 15 — nenhuma violação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53912" y="1975104"/>
            <a:ext cx="534924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153912" y="1975104"/>
            <a:ext cx="5349240" cy="31089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281928" y="1975104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embargo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2359152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</a:t>
            </a:r>
            <a:r>
              <a:rPr lang="en-US" sz="100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antigo inflava o resultado, e a causa é a recência, não o volume.  </a:t>
            </a: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configurações, duas de controle. Os controles removem as mesmas 11 linhas, de outras posições: custam 0,03 ponto. As 11 recentes custam 2,77. É a diferença entre argumentar e demonstrar.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3291840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3,357% · B 6,126% · C 3,181% · D 3,330%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785616"/>
            <a:ext cx="534924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85800" y="3785616"/>
            <a:ext cx="5349240" cy="31089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13816" y="3785616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não recursivo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4169664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</a:t>
            </a:r>
            <a:r>
              <a:rPr lang="en-US" sz="100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12 meses futuros não consomem nenhuma previsão como entrada.  </a:t>
            </a: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verificações encadeadas: o futuro está vazio (y todo NaN), a matriz futura está completa mesmo assim, e cada lag_12 bate com a observação real de 12 meses antes. As três verdadeiras ⇒ recursão impossível.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" y="5102352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futuro NaN: True · features completas: True · lag_12 == observado: True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53912" y="3785616"/>
            <a:ext cx="534924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153912" y="3785616"/>
            <a:ext cx="5349240" cy="310896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281928" y="3785616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do MAPE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1928" y="4169664"/>
            <a:ext cx="5093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</a:t>
            </a:r>
            <a:r>
              <a:rPr lang="en-US" sz="1000" dirty="0">
                <a:solidFill>
                  <a:srgbClr val="1A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MAPE subpesa o erro no pico — exatamente onde o S&amp;OP sofre.  </a:t>
            </a: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Aritmética, não teste binário: o mesmo erro absoluto vale menos por cento onde o índice é alto. Conclusão operacional: MASE para decidir, MAPE para comunicar — sempre ao lado do naive.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81928" y="5102352"/>
            <a:ext cx="5093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 de 5 pts = 5,59% no vale · 4,17% no pico (níveis 89,4 vs 119,9)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742432"/>
            <a:ext cx="10817352" cy="786384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960120" y="5815584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bloco falhar, uma afirmação do relatório deixou de ser verdadeira.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execução: 4/4 PASSOU em ~2 minutos — e `make audit` reproduz tudo na máquina de quem duvidar.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 w="12700">
            <a:solidFill>
              <a:srgbClr val="005C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PIPELINE (scripts/run_all.py)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pipeline em 11 etapas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005840" cy="36576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31673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all</a:t>
            </a: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~11 minutos de ponta a ponta  ·  para no primeiro erro  ·  o barato falha antes do caro  ·  o que roda, quanto custa, o que produz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85800" y="1700784"/>
          <a:ext cx="10817352" cy="373532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· lint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Analisa o texto dos 19 arquivos — imports, sintaxe, armadilhas. Não executa nada.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gate; falha interrompe tudo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· test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testes com dado sintético: defasagem ilegal levanta, embargo remove h−1 linhas, DM não acusa modelos idênticos.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de garantias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· refined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leitura do dado: contrato aplicado, 9 colunas de calendário calculadas, preços de açúcar unidos.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producao_mensal.parquet · 548×16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· audit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Reproduz as 4 afirmações do relatório com o dado real — perturbação de features e os 4 protocolos do embargo.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PASSOU/FALHOU — sem artefato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· eda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Decomposição, testes de Páscoa (Welch + regressão) e do açúcar, contagem de anomalias; títulos derivados da rodada.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figuras 01–09 · eda.json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· benchmark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modelos × 3 horizontes × 36 pontos = 864 treinos; 21 Diebold-Mariano corrigidos por Benjamini-Hochberg.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benchmark.csv — informa, não decide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· forecast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Campeão do YAML + baseline: explicação (SHAP ou coeficiente), previsão futura e proveniência (hash do dado, commit).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figuras 10–13 · metrics.json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 · uncertainty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de blocos (5.000 reamostragens) e efeito mínimo detectável (600 simulações por tamanho de efeito).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figuras 14–15 · uncertainty.json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· sensitivity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janelas × 3 horizontes × 2 modelos → veredito de estabilidade. É aqui que h=12 é reprovado.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figura 16 · sensitivity.json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· gold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metrics, benchmark e sensitivity e traduz para vocabulário de negócio.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Parquet (previsões, desempenho, estabilidade)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2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 · results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 o relatório a partir dos artefatos — nenhum número digitado à mão.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RESULTS.md + bloco no README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577840"/>
            <a:ext cx="10817352" cy="93268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960120" y="5650992"/>
            <a:ext cx="10287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fio: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→ contrato → refined → matriz (X,y) por horizonte → backtest com embargo → métricas → vereditos → gold + relatório.
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detalhe estrutural: todo script começa com 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PipelineConfig.load(args.config)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trocar de base é trocar de arquivo de configuração, não de código.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1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005CA9"/>
                </a:solidFill>
                <a:latin typeface="Calibri"/>
              </a:rPr>
              <a:t>COMO LER OS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Da série ao veredito — como cada ganho foi julgado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serie"/>
          <p:cNvSpPr/>
          <p:nvPr/>
        </p:nvSpPr>
        <p:spPr>
          <a:xfrm>
            <a:off x="822960" y="1554480"/>
            <a:ext cx="10543032" cy="438912"/>
          </a:xfrm>
          <a:prstGeom prst="rect">
            <a:avLst/>
          </a:prstGeom>
          <a:solidFill>
            <a:srgbClr val="F2F4F7"/>
          </a:solidFill>
          <a:ln w="9525">
            <a:solidFill>
              <a:srgbClr val="0A2240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0A2240"/>
                </a:solidFill>
                <a:latin typeface="Calibri"/>
              </a:rPr>
              <a:t>SÉRIE HISTÓRICA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·   548 meses, 1972–2017</a:t>
            </a:r>
          </a:p>
        </p:txBody>
      </p:sp>
      <p:cxnSp>
        <p:nvCxnSpPr>
          <p:cNvPr id="61" name="Seta 61"/>
          <p:cNvCxnSpPr/>
          <p:nvPr/>
        </p:nvCxnSpPr>
        <p:spPr>
          <a:xfrm>
            <a:off x="6094476" y="1993392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62" name="backtest"/>
          <p:cNvSpPr/>
          <p:nvPr/>
        </p:nvSpPr>
        <p:spPr>
          <a:xfrm>
            <a:off x="822960" y="2176272"/>
            <a:ext cx="10543032" cy="438912"/>
          </a:xfrm>
          <a:prstGeom prst="rect">
            <a:avLst/>
          </a:prstGeom>
          <a:solidFill>
            <a:srgbClr val="F2F4F7"/>
          </a:solidFill>
          <a:ln w="9525">
            <a:solidFill>
              <a:srgbClr val="0A2240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0A2240"/>
                </a:solidFill>
                <a:latin typeface="Calibri"/>
              </a:rPr>
              <a:t>BACKTEST WALK-FORWARD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·   36 meses de teste · embargo · modelo clonado a cada mês</a:t>
            </a:r>
          </a:p>
        </p:txBody>
      </p:sp>
      <p:cxnSp>
        <p:nvCxnSpPr>
          <p:cNvPr id="63" name="Seta 63"/>
          <p:cNvCxnSpPr/>
          <p:nvPr/>
        </p:nvCxnSpPr>
        <p:spPr>
          <a:xfrm>
            <a:off x="3456432" y="2615184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64" name="Seta 64"/>
          <p:cNvCxnSpPr/>
          <p:nvPr/>
        </p:nvCxnSpPr>
        <p:spPr>
          <a:xfrm>
            <a:off x="8732520" y="2615184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65" name="candidatos"/>
          <p:cNvSpPr/>
          <p:nvPr/>
        </p:nvSpPr>
        <p:spPr>
          <a:xfrm>
            <a:off x="822960" y="2798064"/>
            <a:ext cx="5047488" cy="438912"/>
          </a:xfrm>
          <a:prstGeom prst="rect">
            <a:avLst/>
          </a:prstGeom>
          <a:solidFill>
            <a:srgbClr val="F2F4F7"/>
          </a:solidFill>
          <a:ln w="9525">
            <a:solidFill>
              <a:srgbClr val="005CA9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005CA9"/>
                </a:solidFill>
                <a:latin typeface="Calibri"/>
              </a:rPr>
              <a:t>8 CANDIDATOS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— do naive com drift ao boosting</a:t>
            </a:r>
          </a:p>
        </p:txBody>
      </p:sp>
      <p:sp>
        <p:nvSpPr>
          <p:cNvPr id="66" name="baseline"/>
          <p:cNvSpPr/>
          <p:nvPr/>
        </p:nvSpPr>
        <p:spPr>
          <a:xfrm>
            <a:off x="6318504" y="2798064"/>
            <a:ext cx="5047488" cy="438912"/>
          </a:xfrm>
          <a:prstGeom prst="rect">
            <a:avLst/>
          </a:prstGeom>
          <a:solidFill>
            <a:srgbClr val="F2F4F7"/>
          </a:solidFill>
          <a:ln w="9525">
            <a:solidFill>
              <a:srgbClr val="005CA9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005CA9"/>
                </a:solidFill>
                <a:latin typeface="Calibri"/>
              </a:rPr>
              <a:t>BASELINE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— repetir o mesmo mês do ano anterior</a:t>
            </a:r>
          </a:p>
        </p:txBody>
      </p:sp>
      <p:cxnSp>
        <p:nvCxnSpPr>
          <p:cNvPr id="67" name="Seta 67"/>
          <p:cNvCxnSpPr/>
          <p:nvPr/>
        </p:nvCxnSpPr>
        <p:spPr>
          <a:xfrm>
            <a:off x="3456432" y="3236976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68" name="Seta 68"/>
          <p:cNvCxnSpPr/>
          <p:nvPr/>
        </p:nvCxnSpPr>
        <p:spPr>
          <a:xfrm>
            <a:off x="8732520" y="3236976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69" name="ganho"/>
          <p:cNvSpPr/>
          <p:nvPr/>
        </p:nvSpPr>
        <p:spPr>
          <a:xfrm>
            <a:off x="822960" y="3419856"/>
            <a:ext cx="10543032" cy="438912"/>
          </a:xfrm>
          <a:prstGeom prst="rect">
            <a:avLst/>
          </a:prstGeom>
          <a:solidFill>
            <a:srgbClr val="F2F4F7"/>
          </a:solidFill>
          <a:ln w="9525">
            <a:solidFill>
              <a:srgbClr val="0A2240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050" b="0" i="0" dirty="0">
                <a:solidFill>
                  <a:srgbClr val="5A6472"/>
                </a:solidFill>
                <a:latin typeface="Calibri"/>
              </a:rPr>
              <a:t>erros pareados, nas mesmas datas  →  MAE · MAPE · MASE  →  </a:t>
            </a:r>
            <a:r>
              <a:rPr sz="1150" b="1" i="0" dirty="0">
                <a:solidFill>
                  <a:srgbClr val="0A2240"/>
                </a:solidFill>
                <a:latin typeface="Calibri"/>
              </a:rPr>
              <a:t>GANHO SOBRE O BASELINE</a:t>
            </a:r>
          </a:p>
        </p:txBody>
      </p:sp>
      <p:cxnSp>
        <p:nvCxnSpPr>
          <p:cNvPr id="70" name="Seta 70"/>
          <p:cNvCxnSpPr/>
          <p:nvPr/>
        </p:nvCxnSpPr>
        <p:spPr>
          <a:xfrm>
            <a:off x="2432304" y="3858768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71" name="Seta 71"/>
          <p:cNvCxnSpPr/>
          <p:nvPr/>
        </p:nvCxnSpPr>
        <p:spPr>
          <a:xfrm>
            <a:off x="6094476" y="3858768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72" name="Seta 72"/>
          <p:cNvCxnSpPr/>
          <p:nvPr/>
        </p:nvCxnSpPr>
        <p:spPr>
          <a:xfrm>
            <a:off x="9756648" y="3858768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73" name="Q"/>
          <p:cNvSpPr/>
          <p:nvPr/>
        </p:nvSpPr>
        <p:spPr>
          <a:xfrm>
            <a:off x="822960" y="4041648"/>
            <a:ext cx="3218688" cy="89611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É SIGNIFICATIVO?</a:t>
            </a:r>
          </a:p>
          <a:p>
            <a:pPr algn="ctr"/>
            <a:r>
              <a:rPr sz="950" b="0" dirty="0">
                <a:solidFill>
                  <a:srgbClr val="9FC4E8"/>
                </a:solidFill>
                <a:latin typeface="Calibri"/>
              </a:rPr>
              <a:t>Diebold-Mariano · correção BH (21 testes)</a:t>
            </a:r>
          </a:p>
        </p:txBody>
      </p:sp>
      <p:sp>
        <p:nvSpPr>
          <p:cNvPr id="74" name="Q"/>
          <p:cNvSpPr/>
          <p:nvPr/>
        </p:nvSpPr>
        <p:spPr>
          <a:xfrm>
            <a:off x="4485132" y="4041648"/>
            <a:ext cx="3218688" cy="89611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É REPRODUZÍVEL?</a:t>
            </a:r>
          </a:p>
          <a:p>
            <a:pPr algn="ctr"/>
            <a:r>
              <a:rPr sz="950" b="0" dirty="0">
                <a:solidFill>
                  <a:srgbClr val="9FC4E8"/>
                </a:solidFill>
                <a:latin typeface="Calibri"/>
              </a:rPr>
              <a:t>o ganho sobrevive a 4 janelas de teste</a:t>
            </a:r>
          </a:p>
        </p:txBody>
      </p:sp>
      <p:sp>
        <p:nvSpPr>
          <p:cNvPr id="75" name="Q"/>
          <p:cNvSpPr/>
          <p:nvPr/>
        </p:nvSpPr>
        <p:spPr>
          <a:xfrm>
            <a:off x="8147304" y="4041648"/>
            <a:ext cx="3218688" cy="89611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A AMOSTRA ENXERGARIA?</a:t>
            </a:r>
          </a:p>
          <a:p>
            <a:pPr algn="ctr"/>
            <a:r>
              <a:rPr sz="950" b="0" dirty="0">
                <a:solidFill>
                  <a:srgbClr val="9FC4E8"/>
                </a:solidFill>
                <a:latin typeface="Calibri"/>
              </a:rPr>
              <a:t>bootstrap de blocos · curva de poder</a:t>
            </a:r>
          </a:p>
        </p:txBody>
      </p:sp>
      <p:cxnSp>
        <p:nvCxnSpPr>
          <p:cNvPr id="76" name="Seta 76"/>
          <p:cNvCxnSpPr/>
          <p:nvPr/>
        </p:nvCxnSpPr>
        <p:spPr>
          <a:xfrm>
            <a:off x="2432304" y="4937760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77" name="Seta 77"/>
          <p:cNvCxnSpPr/>
          <p:nvPr/>
        </p:nvCxnSpPr>
        <p:spPr>
          <a:xfrm>
            <a:off x="6094476" y="4937760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78" name="Seta 78"/>
          <p:cNvCxnSpPr/>
          <p:nvPr/>
        </p:nvCxnSpPr>
        <p:spPr>
          <a:xfrm>
            <a:off x="9756648" y="4937760"/>
            <a:ext cx="0" cy="182880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79" name="decisao"/>
          <p:cNvSpPr/>
          <p:nvPr/>
        </p:nvSpPr>
        <p:spPr>
          <a:xfrm>
            <a:off x="822960" y="5120640"/>
            <a:ext cx="10543032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250" b="1" i="0" dirty="0">
                <a:solidFill>
                  <a:srgbClr val="6B4226"/>
                </a:solidFill>
                <a:latin typeface="Calibri"/>
              </a:rPr>
              <a:t>DECISÃO POR HORIZONTE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—   modelo onde o ganho é real, baseline onde não é   ·   aqui: </a:t>
            </a:r>
            <a:r>
              <a:rPr sz="1050" b="1" i="0" dirty="0">
                <a:solidFill>
                  <a:srgbClr val="2E7D5B"/>
                </a:solidFill>
                <a:latin typeface="Calibri"/>
              </a:rPr>
              <a:t>modelo em h=1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· </a:t>
            </a:r>
            <a:r>
              <a:rPr sz="1050" b="1" i="0" dirty="0">
                <a:solidFill>
                  <a:srgbClr val="0A2240"/>
                </a:solidFill>
                <a:latin typeface="Calibri"/>
              </a:rPr>
              <a:t>naive em h=3 e h=12</a:t>
            </a:r>
          </a:p>
        </p:txBody>
      </p:sp>
      <p:sp>
        <p:nvSpPr>
          <p:cNvPr id="80" name="rodape"/>
          <p:cNvSpPr txBox="1"/>
          <p:nvPr/>
        </p:nvSpPr>
        <p:spPr>
          <a:xfrm>
            <a:off x="822960" y="5870448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0" i="1" dirty="0">
                <a:solidFill>
                  <a:srgbClr val="6B4226"/>
                </a:solidFill>
                <a:latin typeface="Calibri"/>
              </a:rPr>
              <a:t>O funil não termina em “melhor algoritmo”: termina numa decisão de investimento por horizonte — e as três perguntas do meio são, na ordem, os três próximos slides.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17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5CA9"/>
                </a:solidFill>
                <a:latin typeface="Calibri"/>
              </a:rPr>
              <a:t>APÊNDICE · INCERTEZA E PODER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A2240"/>
                </a:solidFill>
                <a:latin typeface="Georgia"/>
              </a:rPr>
              <a:t>Do ganho observado ao veredito — seis perguntas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31750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q1"/>
          <p:cNvSpPr/>
          <p:nvPr/>
        </p:nvSpPr>
        <p:spPr>
          <a:xfrm>
            <a:off x="822960" y="1554480"/>
            <a:ext cx="10543032" cy="420624"/>
          </a:xfrm>
          <a:prstGeom prst="rect">
            <a:avLst/>
          </a:prstGeom>
          <a:solidFill>
            <a:srgbClr val="F2F4F7"/>
          </a:solidFill>
          <a:ln w="9525">
            <a:solidFill>
              <a:srgbClr val="0A2240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0A2240"/>
                </a:solidFill>
                <a:latin typeface="Calibri"/>
              </a:rPr>
              <a:t>1 · O QUE FOI OBSERVADO?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ganho sobre o naive — h=1 +42,0% · h=3 +13,4% · h=12 +10,3%</a:t>
            </a:r>
          </a:p>
        </p:txBody>
      </p:sp>
      <p:cxnSp>
        <p:nvCxnSpPr>
          <p:cNvPr id="61" name="Seta61"/>
          <p:cNvCxnSpPr/>
          <p:nvPr/>
        </p:nvCxnSpPr>
        <p:spPr>
          <a:xfrm>
            <a:off x="6094476" y="1975104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62" name="q2"/>
          <p:cNvSpPr/>
          <p:nvPr/>
        </p:nvSpPr>
        <p:spPr>
          <a:xfrm>
            <a:off x="822960" y="2139696"/>
            <a:ext cx="10543032" cy="621792"/>
          </a:xfrm>
          <a:prstGeom prst="rect">
            <a:avLst/>
          </a:prstGeom>
          <a:solidFill>
            <a:srgbClr val="F2F4F7"/>
          </a:solidFill>
          <a:ln w="9525">
            <a:solidFill>
              <a:srgbClr val="0A2240"/>
            </a:solidFill>
          </a:ln>
        </p:spPr>
        <p:txBody>
          <a:bodyPr wrap="square" lIns="91440" tIns="18288" rIns="91440" bIns="18288" anchor="ctr"/>
          <a:lstStyle/>
          <a:p>
            <a:pPr algn="ctr"/>
            <a:r>
              <a:rPr sz="1150" b="1" i="0" dirty="0">
                <a:solidFill>
                  <a:srgbClr val="0A2240"/>
                </a:solidFill>
                <a:latin typeface="Calibri"/>
              </a:rPr>
              <a:t>2 · QUAL A INCERTEZA EM TORNO DELE?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bootstrap de blocos — 5.000 reamostragens · blocos do tamanho do horizonte · intervalo 90%</a:t>
            </a:r>
          </a:p>
          <a:p>
            <a:pPr algn="ctr"/>
            <a:r>
              <a:rPr sz="1000" b="0" i="0" dirty="0">
                <a:solidFill>
                  <a:srgbClr val="005CA9"/>
                </a:solidFill>
                <a:latin typeface="Calibri"/>
              </a:rPr>
              <a:t>h=1: [+27,7%; +53,4%] — zero fora   ·   h=3: [−12,8%; +34,2%] e h=12: [−8,8%; +18,5%] — zero dentro</a:t>
            </a:r>
          </a:p>
        </p:txBody>
      </p:sp>
      <p:cxnSp>
        <p:nvCxnSpPr>
          <p:cNvPr id="63" name="Seta63"/>
          <p:cNvCxnSpPr/>
          <p:nvPr/>
        </p:nvCxnSpPr>
        <p:spPr>
          <a:xfrm>
            <a:off x="6094476" y="2761488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64" name="q3"/>
          <p:cNvSpPr/>
          <p:nvPr/>
        </p:nvSpPr>
        <p:spPr>
          <a:xfrm>
            <a:off x="822960" y="2926080"/>
            <a:ext cx="10543032" cy="420624"/>
          </a:xfrm>
          <a:prstGeom prst="rect">
            <a:avLst/>
          </a:prstGeom>
          <a:solidFill>
            <a:srgbClr val="F2F4F7"/>
          </a:solidFill>
          <a:ln w="9525">
            <a:solidFill>
              <a:srgbClr val="0A2240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0A2240"/>
                </a:solidFill>
                <a:latin typeface="Calibri"/>
              </a:rPr>
              <a:t>3 · E SE FOR SÓ POUCO DADO?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imponho vantagens conhecidas sobre os erros reais e conto as detecções — 600 simulações por tamanho</a:t>
            </a:r>
          </a:p>
        </p:txBody>
      </p:sp>
      <p:cxnSp>
        <p:nvCxnSpPr>
          <p:cNvPr id="65" name="Seta65"/>
          <p:cNvCxnSpPr/>
          <p:nvPr/>
        </p:nvCxnSpPr>
        <p:spPr>
          <a:xfrm>
            <a:off x="6094476" y="3346704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66" name="q4"/>
          <p:cNvSpPr/>
          <p:nvPr/>
        </p:nvSpPr>
        <p:spPr>
          <a:xfrm>
            <a:off x="822960" y="3511296"/>
            <a:ext cx="10543032" cy="420624"/>
          </a:xfrm>
          <a:prstGeom prst="rect">
            <a:avLst/>
          </a:prstGeom>
          <a:solidFill>
            <a:srgbClr val="F2F4F7"/>
          </a:solidFill>
          <a:ln w="9525">
            <a:solidFill>
              <a:srgbClr val="0A2240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0A2240"/>
                </a:solidFill>
                <a:latin typeface="Calibri"/>
              </a:rPr>
              <a:t>4 · A PARTIR DE QUE TAMANHO DETECTO?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MDE a 80% de poder: 35% em h=1 · 40% em h=3 e h=12 — no observado de h=12, 13% de chance</a:t>
            </a:r>
          </a:p>
        </p:txBody>
      </p:sp>
      <p:cxnSp>
        <p:nvCxnSpPr>
          <p:cNvPr id="67" name="Seta67"/>
          <p:cNvCxnSpPr/>
          <p:nvPr/>
        </p:nvCxnSpPr>
        <p:spPr>
          <a:xfrm>
            <a:off x="2432304" y="3931920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68" name="Seta68"/>
          <p:cNvCxnSpPr/>
          <p:nvPr/>
        </p:nvCxnSpPr>
        <p:spPr>
          <a:xfrm>
            <a:off x="6094476" y="3931920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69" name="Seta69"/>
          <p:cNvCxnSpPr/>
          <p:nvPr/>
        </p:nvCxnSpPr>
        <p:spPr>
          <a:xfrm>
            <a:off x="9756648" y="3931920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70" name="strip5"/>
          <p:cNvSpPr/>
          <p:nvPr/>
        </p:nvSpPr>
        <p:spPr>
          <a:xfrm>
            <a:off x="822960" y="4096512"/>
            <a:ext cx="10543032" cy="25603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wrap="square" lIns="91440" tIns="9144" rIns="91440" bIns="9144" anchor="ctr"/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Calibri"/>
              </a:rPr>
              <a:t>5 · O VEREDITO — três leituras possíveis</a:t>
            </a:r>
          </a:p>
        </p:txBody>
      </p:sp>
      <p:sp>
        <p:nvSpPr>
          <p:cNvPr id="71" name="card5"/>
          <p:cNvSpPr/>
          <p:nvPr/>
        </p:nvSpPr>
        <p:spPr>
          <a:xfrm>
            <a:off x="822960" y="4352544"/>
            <a:ext cx="3218688" cy="841248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ZERO FORA DO INTERVALO</a:t>
            </a:r>
          </a:p>
          <a:p>
            <a:pPr algn="ctr"/>
            <a:r>
              <a:rPr sz="950" b="0" i="0" dirty="0">
                <a:solidFill>
                  <a:srgbClr val="9FC4E8"/>
                </a:solidFill>
                <a:latin typeface="Calibri"/>
              </a:rPr>
              <a:t>ganho sustentado — o caso de h=1: [+27,7%; +53,4%]</a:t>
            </a:r>
          </a:p>
        </p:txBody>
      </p:sp>
      <p:sp>
        <p:nvSpPr>
          <p:cNvPr id="72" name="card5"/>
          <p:cNvSpPr/>
          <p:nvPr/>
        </p:nvSpPr>
        <p:spPr>
          <a:xfrm>
            <a:off x="4485132" y="4352544"/>
            <a:ext cx="3218688" cy="841248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ZERO DENTRO · GANHO &lt; MDE</a:t>
            </a:r>
          </a:p>
          <a:p>
            <a:pPr algn="ctr"/>
            <a:r>
              <a:rPr sz="950" b="0" i="0" dirty="0">
                <a:solidFill>
                  <a:srgbClr val="9FC4E8"/>
                </a:solidFill>
                <a:latin typeface="Calibri"/>
              </a:rPr>
              <a:t>inconclusivo por amostra — h=3 e h=12: “empate” descreve o experimento</a:t>
            </a:r>
          </a:p>
        </p:txBody>
      </p:sp>
      <p:sp>
        <p:nvSpPr>
          <p:cNvPr id="73" name="card5"/>
          <p:cNvSpPr/>
          <p:nvPr/>
        </p:nvSpPr>
        <p:spPr>
          <a:xfrm>
            <a:off x="8147304" y="4352544"/>
            <a:ext cx="3218688" cy="841248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ZERO DENTRO · GANHO ≥ MDE</a:t>
            </a:r>
          </a:p>
          <a:p>
            <a:pPr algn="ctr"/>
            <a:r>
              <a:rPr sz="950" b="0" i="0" dirty="0">
                <a:solidFill>
                  <a:srgbClr val="9FC4E8"/>
                </a:solidFill>
                <a:latin typeface="Calibri"/>
              </a:rPr>
              <a:t>sem ganho: a base detectaria e não detectou — não ocorreu aqui</a:t>
            </a:r>
          </a:p>
        </p:txBody>
      </p:sp>
      <p:cxnSp>
        <p:nvCxnSpPr>
          <p:cNvPr id="74" name="Seta74"/>
          <p:cNvCxnSpPr/>
          <p:nvPr/>
        </p:nvCxnSpPr>
        <p:spPr>
          <a:xfrm>
            <a:off x="2432304" y="5193792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75" name="Seta75"/>
          <p:cNvCxnSpPr/>
          <p:nvPr/>
        </p:nvCxnSpPr>
        <p:spPr>
          <a:xfrm>
            <a:off x="6094476" y="5193792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cxnSp>
        <p:nvCxnSpPr>
          <p:cNvPr id="76" name="Seta76"/>
          <p:cNvCxnSpPr/>
          <p:nvPr/>
        </p:nvCxnSpPr>
        <p:spPr>
          <a:xfrm>
            <a:off x="9756648" y="5193792"/>
            <a:ext cx="0" cy="164592"/>
          </a:xfrm>
          <a:prstGeom prst="line">
            <a:avLst/>
          </a:prstGeom>
          <a:ln w="19050">
            <a:solidFill>
              <a:srgbClr val="0A2240"/>
            </a:solidFill>
            <a:tailEnd type="triangle" w="med" len="med"/>
          </a:ln>
        </p:spPr>
      </p:cxnSp>
      <p:sp>
        <p:nvSpPr>
          <p:cNvPr id="77" name="q6"/>
          <p:cNvSpPr/>
          <p:nvPr/>
        </p:nvSpPr>
        <p:spPr>
          <a:xfrm>
            <a:off x="822960" y="5358384"/>
            <a:ext cx="10543032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4226"/>
            </a:solidFill>
          </a:ln>
        </p:spPr>
        <p:txBody>
          <a:bodyPr wrap="square" lIns="91440" tIns="27432" rIns="91440" bIns="27432" anchor="ctr"/>
          <a:lstStyle/>
          <a:p>
            <a:pPr algn="ctr"/>
            <a:r>
              <a:rPr sz="1150" b="1" i="0" dirty="0">
                <a:solidFill>
                  <a:srgbClr val="6B4226"/>
                </a:solidFill>
                <a:latin typeface="Calibri"/>
              </a:rPr>
              <a:t>6 · O GANHO SOBREVIVE À TROCA DO PERÍODO?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4 janelas — h=1 mantém </a:t>
            </a:r>
            <a:r>
              <a:rPr sz="1050" b="1" i="0" dirty="0">
                <a:solidFill>
                  <a:srgbClr val="2E7D5B"/>
                </a:solidFill>
                <a:latin typeface="Calibri"/>
              </a:rPr>
              <a:t>+32% a +42%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  ·   h=12 vai de </a:t>
            </a:r>
            <a:r>
              <a:rPr sz="1050" b="1" i="0" dirty="0">
                <a:solidFill>
                  <a:srgbClr val="B5342A"/>
                </a:solidFill>
                <a:latin typeface="Calibri"/>
              </a:rPr>
              <a:t>+10% a −29%</a:t>
            </a:r>
            <a:r>
              <a:rPr sz="1050" b="0" i="0" dirty="0">
                <a:solidFill>
                  <a:srgbClr val="5A6472"/>
                </a:solidFill>
                <a:latin typeface="Calibri"/>
              </a:rPr>
              <a:t> — troca de sinal</a:t>
            </a:r>
          </a:p>
        </p:txBody>
      </p:sp>
      <p:sp>
        <p:nvSpPr>
          <p:cNvPr id="78" name="rodape"/>
          <p:cNvSpPr txBox="1"/>
          <p:nvPr/>
        </p:nvSpPr>
        <p:spPr>
          <a:xfrm>
            <a:off x="822960" y="5961888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0" i="1" dirty="0">
                <a:solidFill>
                  <a:srgbClr val="6B4226"/>
                </a:solidFill>
                <a:latin typeface="Calibri"/>
              </a:rPr>
              <a:t>Duas perguntas que o p-valor não responde — de que tamanho é o ganho, e o teste o enxergaria se ele existisse. A troca de janela fecha a conta sem depender de poder: se o sinal troca, trocou.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6446</Words>
  <Application>Microsoft Office PowerPoint</Application>
  <PresentationFormat>Widescreen</PresentationFormat>
  <Paragraphs>713</Paragraphs>
  <Slides>38</Slides>
  <Notes>38</Notes>
  <HiddenSlides>6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produção de açúcar e confeitaria</dc:title>
  <dc:creator>Laércio Siqueira</dc:creator>
  <cp:lastModifiedBy>Camila Kushiyama</cp:lastModifiedBy>
  <cp:revision>1</cp:revision>
  <dcterms:created xsi:type="dcterms:W3CDTF">2026-09-03T02:29:13Z</dcterms:created>
  <dcterms:modified xsi:type="dcterms:W3CDTF">2026-09-03T03:07:31Z</dcterms:modified>
</cp:coreProperties>
</file>